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73" r:id="rId5"/>
    <p:sldId id="261" r:id="rId6"/>
    <p:sldId id="265" r:id="rId7"/>
    <p:sldId id="270" r:id="rId8"/>
    <p:sldId id="271" r:id="rId9"/>
    <p:sldId id="272" r:id="rId10"/>
    <p:sldId id="266" r:id="rId11"/>
    <p:sldId id="267" r:id="rId12"/>
    <p:sldId id="268" r:id="rId13"/>
    <p:sldId id="269"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22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1"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22"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23"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24"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D60251-23E1-4B86-81C2-7A671137C22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noRot="1" noChangeAspect="1"/>
          </p:cNvSpPr>
          <p:nvPr>
            <p:ph type="sldImg"/>
          </p:nvPr>
        </p:nvSpPr>
        <p:spPr>
          <a:xfrm>
            <a:off x="1374775" y="1336675"/>
            <a:ext cx="4810125" cy="3608388"/>
          </a:xfrm>
          <a:prstGeom prst="rect">
            <a:avLst/>
          </a:prstGeom>
          <a:ln w="0">
            <a:noFill/>
          </a:ln>
        </p:spPr>
      </p:sp>
      <p:sp>
        <p:nvSpPr>
          <p:cNvPr id="250"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51" name="PlaceHolder 3"/>
          <p:cNvSpPr>
            <a:spLocks noGrp="1"/>
          </p:cNvSpPr>
          <p:nvPr>
            <p:ph type="sldNum" idx="4"/>
          </p:nvPr>
        </p:nvSpPr>
        <p:spPr>
          <a:xfrm>
            <a:off x="4281480" y="10155240"/>
            <a:ext cx="3276360" cy="5360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3807172-DF9D-4D5C-9A0A-DEE7941D288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
        <p:nvSpPr>
          <p:cNvPr id="252" name="PlaceHolder 4"/>
          <p:cNvSpPr>
            <a:spLocks noGrp="1"/>
          </p:cNvSpPr>
          <p:nvPr>
            <p:ph type="ftr" idx="5"/>
          </p:nvPr>
        </p:nvSpPr>
        <p:spPr>
          <a:xfrm>
            <a:off x="0" y="10155240"/>
            <a:ext cx="3276360" cy="536040"/>
          </a:xfrm>
          <a:prstGeom prst="rect">
            <a:avLst/>
          </a:prstGeom>
          <a:noFill/>
          <a:ln w="0">
            <a:noFill/>
          </a:ln>
        </p:spPr>
        <p:txBody>
          <a:bodyPr lIns="91440" tIns="45720" rIns="91440" bIns="45720" anchor="b">
            <a:noAutofit/>
          </a:bodyPr>
          <a:lstStyle>
            <a:lvl1pPr indent="0">
              <a:lnSpc>
                <a:spcPct val="100000"/>
              </a:lnSpc>
              <a:buNone/>
              <a:defRPr lang="en-US" sz="1200" b="0" u="none" strike="noStrike">
                <a:solidFill>
                  <a:srgbClr val="000000"/>
                </a:solidFill>
                <a:effectLst/>
                <a:uFillTx/>
                <a:latin typeface="Times New Roman"/>
              </a:defRPr>
            </a:lvl1pPr>
          </a:lstStyle>
          <a:p>
            <a:pPr indent="0">
              <a:lnSpc>
                <a:spcPct val="100000"/>
              </a:lnSpc>
              <a:buNone/>
            </a:pPr>
            <a:r>
              <a:rPr lang="en-US" sz="1200" b="0" u="none" strike="noStrike">
                <a:solidFill>
                  <a:srgbClr val="000000"/>
                </a:solidFill>
                <a:effectLst/>
                <a:uFillTx/>
                <a:latin typeface="Times New Roman"/>
              </a:rPr>
              <a:t>Name of the faculty [Group: G00] [Sem:2nd]</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 name="Group 3"/>
          <p:cNvGrpSpPr/>
          <p:nvPr/>
        </p:nvGrpSpPr>
        <p:grpSpPr>
          <a:xfrm>
            <a:off x="6146640" y="0"/>
            <a:ext cx="2996640" cy="875520"/>
            <a:chOff x="6146640" y="0"/>
            <a:chExt cx="2996640" cy="875520"/>
          </a:xfrm>
        </p:grpSpPr>
        <p:sp>
          <p:nvSpPr>
            <p:cNvPr id="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 name="Picture 9" descr="LOGO.gif"/>
            <p:cNvPicPr/>
            <p:nvPr/>
          </p:nvPicPr>
          <p:blipFill>
            <a:blip r:embed="rId2"/>
            <a:srcRect b="10729"/>
            <a:stretch/>
          </p:blipFill>
          <p:spPr>
            <a:xfrm>
              <a:off x="6553080" y="228600"/>
              <a:ext cx="2056680" cy="634320"/>
            </a:xfrm>
            <a:prstGeom prst="rect">
              <a:avLst/>
            </a:prstGeom>
            <a:noFill/>
            <a:ln w="9360">
              <a:noFill/>
            </a:ln>
          </p:spPr>
        </p:pic>
        <p:sp>
          <p:nvSpPr>
            <p:cNvPr id="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 name="Picture 15" descr="logo.jpg"/>
          <p:cNvPicPr/>
          <p:nvPr/>
        </p:nvPicPr>
        <p:blipFill>
          <a:blip r:embed="rId3"/>
          <a:stretch/>
        </p:blipFill>
        <p:spPr>
          <a:xfrm>
            <a:off x="6553080" y="228600"/>
            <a:ext cx="1920240" cy="608760"/>
          </a:xfrm>
          <a:prstGeom prst="rect">
            <a:avLst/>
          </a:prstGeom>
          <a:noFill/>
          <a:ln w="9360">
            <a:noFill/>
          </a:ln>
        </p:spPr>
      </p:pic>
      <p:pic>
        <p:nvPicPr>
          <p:cNvPr id="1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 name="Group 6"/>
          <p:cNvGrpSpPr/>
          <p:nvPr/>
        </p:nvGrpSpPr>
        <p:grpSpPr>
          <a:xfrm>
            <a:off x="6146640" y="0"/>
            <a:ext cx="2996640" cy="875520"/>
            <a:chOff x="6146640" y="0"/>
            <a:chExt cx="2996640" cy="875520"/>
          </a:xfrm>
        </p:grpSpPr>
        <p:sp>
          <p:nvSpPr>
            <p:cNvPr id="1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 name="Picture 9" descr="LOGO.gif"/>
            <p:cNvPicPr/>
            <p:nvPr/>
          </p:nvPicPr>
          <p:blipFill>
            <a:blip r:embed="rId2"/>
            <a:srcRect b="10729"/>
            <a:stretch/>
          </p:blipFill>
          <p:spPr>
            <a:xfrm>
              <a:off x="6553080" y="228600"/>
              <a:ext cx="2056680" cy="634320"/>
            </a:xfrm>
            <a:prstGeom prst="rect">
              <a:avLst/>
            </a:prstGeom>
            <a:noFill/>
            <a:ln w="9360">
              <a:noFill/>
            </a:ln>
          </p:spPr>
        </p:pic>
        <p:sp>
          <p:nvSpPr>
            <p:cNvPr id="1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 name="Picture 15" descr="logo.jpg"/>
          <p:cNvPicPr/>
          <p:nvPr/>
        </p:nvPicPr>
        <p:blipFill>
          <a:blip r:embed="rId3"/>
          <a:stretch/>
        </p:blipFill>
        <p:spPr>
          <a:xfrm>
            <a:off x="6553080" y="228600"/>
            <a:ext cx="1920240" cy="608760"/>
          </a:xfrm>
          <a:prstGeom prst="rect">
            <a:avLst/>
          </a:prstGeom>
          <a:noFill/>
          <a:ln w="9360">
            <a:noFill/>
          </a:ln>
        </p:spPr>
      </p:pic>
      <p:sp>
        <p:nvSpPr>
          <p:cNvPr id="1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18"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verTx" preserve="1">
  <p:cSld name="Title, Content over Content">
    <p:bg>
      <p:bgPr>
        <a:solidFill>
          <a:srgbClr val="FFFFFF"/>
        </a:solidFill>
        <a:effectLst/>
      </p:bgPr>
    </p:bg>
    <p:spTree>
      <p:nvGrpSpPr>
        <p:cNvPr id="1" name=""/>
        <p:cNvGrpSpPr/>
        <p:nvPr/>
      </p:nvGrpSpPr>
      <p:grpSpPr>
        <a:xfrm>
          <a:off x="0" y="0"/>
          <a:ext cx="0" cy="0"/>
          <a:chOff x="0" y="0"/>
          <a:chExt cx="0" cy="0"/>
        </a:xfrm>
      </p:grpSpPr>
      <p:sp>
        <p:nvSpPr>
          <p:cNvPr id="1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3" name="Group 3"/>
          <p:cNvGrpSpPr/>
          <p:nvPr/>
        </p:nvGrpSpPr>
        <p:grpSpPr>
          <a:xfrm>
            <a:off x="6146640" y="0"/>
            <a:ext cx="2996640" cy="875520"/>
            <a:chOff x="6146640" y="0"/>
            <a:chExt cx="2996640" cy="875520"/>
          </a:xfrm>
        </p:grpSpPr>
        <p:sp>
          <p:nvSpPr>
            <p:cNvPr id="2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5" name="Picture 9" descr="LOGO.gif"/>
            <p:cNvPicPr/>
            <p:nvPr/>
          </p:nvPicPr>
          <p:blipFill>
            <a:blip r:embed="rId2"/>
            <a:srcRect b="10729"/>
            <a:stretch/>
          </p:blipFill>
          <p:spPr>
            <a:xfrm>
              <a:off x="6553080" y="228600"/>
              <a:ext cx="2056680" cy="634320"/>
            </a:xfrm>
            <a:prstGeom prst="rect">
              <a:avLst/>
            </a:prstGeom>
            <a:noFill/>
            <a:ln w="9360">
              <a:noFill/>
            </a:ln>
          </p:spPr>
        </p:pic>
        <p:sp>
          <p:nvSpPr>
            <p:cNvPr id="2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7" name="Picture 15" descr="logo.jpg"/>
          <p:cNvPicPr/>
          <p:nvPr/>
        </p:nvPicPr>
        <p:blipFill>
          <a:blip r:embed="rId3"/>
          <a:stretch/>
        </p:blipFill>
        <p:spPr>
          <a:xfrm>
            <a:off x="6553080" y="228600"/>
            <a:ext cx="1920240" cy="608760"/>
          </a:xfrm>
          <a:prstGeom prst="rect">
            <a:avLst/>
          </a:prstGeom>
          <a:noFill/>
          <a:ln w="9360">
            <a:noFill/>
          </a:ln>
        </p:spPr>
      </p:pic>
      <p:pic>
        <p:nvPicPr>
          <p:cNvPr id="2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9" name="Group 6"/>
          <p:cNvGrpSpPr/>
          <p:nvPr/>
        </p:nvGrpSpPr>
        <p:grpSpPr>
          <a:xfrm>
            <a:off x="6146640" y="0"/>
            <a:ext cx="2996640" cy="875520"/>
            <a:chOff x="6146640" y="0"/>
            <a:chExt cx="2996640" cy="875520"/>
          </a:xfrm>
        </p:grpSpPr>
        <p:sp>
          <p:nvSpPr>
            <p:cNvPr id="3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1" name="Picture 9" descr="LOGO.gif"/>
            <p:cNvPicPr/>
            <p:nvPr/>
          </p:nvPicPr>
          <p:blipFill>
            <a:blip r:embed="rId2"/>
            <a:srcRect b="10729"/>
            <a:stretch/>
          </p:blipFill>
          <p:spPr>
            <a:xfrm>
              <a:off x="6553080" y="228600"/>
              <a:ext cx="2056680" cy="634320"/>
            </a:xfrm>
            <a:prstGeom prst="rect">
              <a:avLst/>
            </a:prstGeom>
            <a:noFill/>
            <a:ln w="9360">
              <a:noFill/>
            </a:ln>
          </p:spPr>
        </p:pic>
        <p:sp>
          <p:nvSpPr>
            <p:cNvPr id="3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33" name="Picture 15" descr="logo.jpg"/>
          <p:cNvPicPr/>
          <p:nvPr/>
        </p:nvPicPr>
        <p:blipFill>
          <a:blip r:embed="rId3"/>
          <a:stretch/>
        </p:blipFill>
        <p:spPr>
          <a:xfrm>
            <a:off x="6553080" y="228600"/>
            <a:ext cx="1920240" cy="608760"/>
          </a:xfrm>
          <a:prstGeom prst="rect">
            <a:avLst/>
          </a:prstGeom>
          <a:noFill/>
          <a:ln w="9360">
            <a:noFill/>
          </a:ln>
        </p:spPr>
      </p:pic>
      <p:sp>
        <p:nvSpPr>
          <p:cNvPr id="3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35" name="PlaceHolder 2"/>
          <p:cNvSpPr>
            <a:spLocks noGrp="1"/>
          </p:cNvSpPr>
          <p:nvPr>
            <p:ph type="body"/>
          </p:nvPr>
        </p:nvSpPr>
        <p:spPr>
          <a:xfrm>
            <a:off x="457200" y="160452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36" name="PlaceHolder 3"/>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fourObj" preserve="1">
  <p:cSld name="Title, 4 Content">
    <p:bg>
      <p:bgPr>
        <a:solidFill>
          <a:srgbClr val="FFFFFF"/>
        </a:solidFill>
        <a:effectLst/>
      </p:bgPr>
    </p:bg>
    <p:spTree>
      <p:nvGrpSpPr>
        <p:cNvPr id="1" name=""/>
        <p:cNvGrpSpPr/>
        <p:nvPr/>
      </p:nvGrpSpPr>
      <p:grpSpPr>
        <a:xfrm>
          <a:off x="0" y="0"/>
          <a:ext cx="0" cy="0"/>
          <a:chOff x="0" y="0"/>
          <a:chExt cx="0" cy="0"/>
        </a:xfrm>
      </p:grpSpPr>
      <p:sp>
        <p:nvSpPr>
          <p:cNvPr id="3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4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1" name="Group 3"/>
          <p:cNvGrpSpPr/>
          <p:nvPr/>
        </p:nvGrpSpPr>
        <p:grpSpPr>
          <a:xfrm>
            <a:off x="6146640" y="0"/>
            <a:ext cx="2996640" cy="875520"/>
            <a:chOff x="6146640" y="0"/>
            <a:chExt cx="2996640" cy="875520"/>
          </a:xfrm>
        </p:grpSpPr>
        <p:sp>
          <p:nvSpPr>
            <p:cNvPr id="4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3" name="Picture 9" descr="LOGO.gif"/>
            <p:cNvPicPr/>
            <p:nvPr/>
          </p:nvPicPr>
          <p:blipFill>
            <a:blip r:embed="rId2"/>
            <a:srcRect b="10729"/>
            <a:stretch/>
          </p:blipFill>
          <p:spPr>
            <a:xfrm>
              <a:off x="6553080" y="228600"/>
              <a:ext cx="2056680" cy="634320"/>
            </a:xfrm>
            <a:prstGeom prst="rect">
              <a:avLst/>
            </a:prstGeom>
            <a:noFill/>
            <a:ln w="9360">
              <a:noFill/>
            </a:ln>
          </p:spPr>
        </p:pic>
        <p:sp>
          <p:nvSpPr>
            <p:cNvPr id="4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45" name="Picture 15" descr="logo.jpg"/>
          <p:cNvPicPr/>
          <p:nvPr/>
        </p:nvPicPr>
        <p:blipFill>
          <a:blip r:embed="rId3"/>
          <a:stretch/>
        </p:blipFill>
        <p:spPr>
          <a:xfrm>
            <a:off x="6553080" y="228600"/>
            <a:ext cx="1920240" cy="608760"/>
          </a:xfrm>
          <a:prstGeom prst="rect">
            <a:avLst/>
          </a:prstGeom>
          <a:noFill/>
          <a:ln w="9360">
            <a:noFill/>
          </a:ln>
        </p:spPr>
      </p:pic>
      <p:pic>
        <p:nvPicPr>
          <p:cNvPr id="4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7" name="Group 6"/>
          <p:cNvGrpSpPr/>
          <p:nvPr/>
        </p:nvGrpSpPr>
        <p:grpSpPr>
          <a:xfrm>
            <a:off x="6146640" y="0"/>
            <a:ext cx="2996640" cy="875520"/>
            <a:chOff x="6146640" y="0"/>
            <a:chExt cx="2996640" cy="875520"/>
          </a:xfrm>
        </p:grpSpPr>
        <p:sp>
          <p:nvSpPr>
            <p:cNvPr id="4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9" name="Picture 9" descr="LOGO.gif"/>
            <p:cNvPicPr/>
            <p:nvPr/>
          </p:nvPicPr>
          <p:blipFill>
            <a:blip r:embed="rId2"/>
            <a:srcRect b="10729"/>
            <a:stretch/>
          </p:blipFill>
          <p:spPr>
            <a:xfrm>
              <a:off x="6553080" y="228600"/>
              <a:ext cx="2056680" cy="634320"/>
            </a:xfrm>
            <a:prstGeom prst="rect">
              <a:avLst/>
            </a:prstGeom>
            <a:noFill/>
            <a:ln w="9360">
              <a:noFill/>
            </a:ln>
          </p:spPr>
        </p:pic>
        <p:sp>
          <p:nvSpPr>
            <p:cNvPr id="5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51" name="Picture 15" descr="logo.jpg"/>
          <p:cNvPicPr/>
          <p:nvPr/>
        </p:nvPicPr>
        <p:blipFill>
          <a:blip r:embed="rId3"/>
          <a:stretch/>
        </p:blipFill>
        <p:spPr>
          <a:xfrm>
            <a:off x="6553080" y="228600"/>
            <a:ext cx="1920240" cy="608760"/>
          </a:xfrm>
          <a:prstGeom prst="rect">
            <a:avLst/>
          </a:prstGeom>
          <a:noFill/>
          <a:ln w="9360">
            <a:noFill/>
          </a:ln>
        </p:spPr>
      </p:pic>
      <p:sp>
        <p:nvSpPr>
          <p:cNvPr id="5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53"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4"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5"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6" name="PlaceHolder 5"/>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6 Content">
    <p:bg>
      <p:bgPr>
        <a:solidFill>
          <a:srgbClr val="FFFFFF"/>
        </a:solidFill>
        <a:effectLst/>
      </p:bgPr>
    </p:bg>
    <p:spTree>
      <p:nvGrpSpPr>
        <p:cNvPr id="1" name=""/>
        <p:cNvGrpSpPr/>
        <p:nvPr/>
      </p:nvGrpSpPr>
      <p:grpSpPr>
        <a:xfrm>
          <a:off x="0" y="0"/>
          <a:ext cx="0" cy="0"/>
          <a:chOff x="0" y="0"/>
          <a:chExt cx="0" cy="0"/>
        </a:xfrm>
      </p:grpSpPr>
      <p:sp>
        <p:nvSpPr>
          <p:cNvPr id="5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5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6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1" name="Group 3"/>
          <p:cNvGrpSpPr/>
          <p:nvPr/>
        </p:nvGrpSpPr>
        <p:grpSpPr>
          <a:xfrm>
            <a:off x="6146640" y="0"/>
            <a:ext cx="2996640" cy="875520"/>
            <a:chOff x="6146640" y="0"/>
            <a:chExt cx="2996640" cy="875520"/>
          </a:xfrm>
        </p:grpSpPr>
        <p:sp>
          <p:nvSpPr>
            <p:cNvPr id="6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3" name="Picture 9" descr="LOGO.gif"/>
            <p:cNvPicPr/>
            <p:nvPr/>
          </p:nvPicPr>
          <p:blipFill>
            <a:blip r:embed="rId2"/>
            <a:srcRect b="10729"/>
            <a:stretch/>
          </p:blipFill>
          <p:spPr>
            <a:xfrm>
              <a:off x="6553080" y="228600"/>
              <a:ext cx="2056680" cy="634320"/>
            </a:xfrm>
            <a:prstGeom prst="rect">
              <a:avLst/>
            </a:prstGeom>
            <a:noFill/>
            <a:ln w="9360">
              <a:noFill/>
            </a:ln>
          </p:spPr>
        </p:pic>
        <p:sp>
          <p:nvSpPr>
            <p:cNvPr id="6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65" name="Picture 15" descr="logo.jpg"/>
          <p:cNvPicPr/>
          <p:nvPr/>
        </p:nvPicPr>
        <p:blipFill>
          <a:blip r:embed="rId3"/>
          <a:stretch/>
        </p:blipFill>
        <p:spPr>
          <a:xfrm>
            <a:off x="6553080" y="228600"/>
            <a:ext cx="1920240" cy="608760"/>
          </a:xfrm>
          <a:prstGeom prst="rect">
            <a:avLst/>
          </a:prstGeom>
          <a:noFill/>
          <a:ln w="9360">
            <a:noFill/>
          </a:ln>
        </p:spPr>
      </p:pic>
      <p:pic>
        <p:nvPicPr>
          <p:cNvPr id="6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7" name="Group 6"/>
          <p:cNvGrpSpPr/>
          <p:nvPr/>
        </p:nvGrpSpPr>
        <p:grpSpPr>
          <a:xfrm>
            <a:off x="6146640" y="0"/>
            <a:ext cx="2996640" cy="875520"/>
            <a:chOff x="6146640" y="0"/>
            <a:chExt cx="2996640" cy="875520"/>
          </a:xfrm>
        </p:grpSpPr>
        <p:sp>
          <p:nvSpPr>
            <p:cNvPr id="6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9" name="Picture 9" descr="LOGO.gif"/>
            <p:cNvPicPr/>
            <p:nvPr/>
          </p:nvPicPr>
          <p:blipFill>
            <a:blip r:embed="rId2"/>
            <a:srcRect b="10729"/>
            <a:stretch/>
          </p:blipFill>
          <p:spPr>
            <a:xfrm>
              <a:off x="6553080" y="228600"/>
              <a:ext cx="2056680" cy="634320"/>
            </a:xfrm>
            <a:prstGeom prst="rect">
              <a:avLst/>
            </a:prstGeom>
            <a:noFill/>
            <a:ln w="9360">
              <a:noFill/>
            </a:ln>
          </p:spPr>
        </p:pic>
        <p:sp>
          <p:nvSpPr>
            <p:cNvPr id="7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71" name="Picture 15" descr="logo.jpg"/>
          <p:cNvPicPr/>
          <p:nvPr/>
        </p:nvPicPr>
        <p:blipFill>
          <a:blip r:embed="rId3"/>
          <a:stretch/>
        </p:blipFill>
        <p:spPr>
          <a:xfrm>
            <a:off x="6553080" y="228600"/>
            <a:ext cx="1920240" cy="608760"/>
          </a:xfrm>
          <a:prstGeom prst="rect">
            <a:avLst/>
          </a:prstGeom>
          <a:noFill/>
          <a:ln w="9360">
            <a:noFill/>
          </a:ln>
        </p:spPr>
      </p:pic>
      <p:sp>
        <p:nvSpPr>
          <p:cNvPr id="7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73" name="PlaceHolder 2"/>
          <p:cNvSpPr>
            <a:spLocks noGrp="1"/>
          </p:cNvSpPr>
          <p:nvPr>
            <p:ph type="body"/>
          </p:nvPr>
        </p:nvSpPr>
        <p:spPr>
          <a:xfrm>
            <a:off x="45720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4" name="PlaceHolder 3"/>
          <p:cNvSpPr>
            <a:spLocks noGrp="1"/>
          </p:cNvSpPr>
          <p:nvPr>
            <p:ph type="body"/>
          </p:nvPr>
        </p:nvSpPr>
        <p:spPr>
          <a:xfrm>
            <a:off x="323964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5" name="PlaceHolder 4"/>
          <p:cNvSpPr>
            <a:spLocks noGrp="1"/>
          </p:cNvSpPr>
          <p:nvPr>
            <p:ph type="body"/>
          </p:nvPr>
        </p:nvSpPr>
        <p:spPr>
          <a:xfrm>
            <a:off x="602208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6" name="PlaceHolder 5"/>
          <p:cNvSpPr>
            <a:spLocks noGrp="1"/>
          </p:cNvSpPr>
          <p:nvPr>
            <p:ph type="body"/>
          </p:nvPr>
        </p:nvSpPr>
        <p:spPr>
          <a:xfrm>
            <a:off x="45720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7" name="PlaceHolder 6"/>
          <p:cNvSpPr>
            <a:spLocks noGrp="1"/>
          </p:cNvSpPr>
          <p:nvPr>
            <p:ph type="body"/>
          </p:nvPr>
        </p:nvSpPr>
        <p:spPr>
          <a:xfrm>
            <a:off x="323964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8" name="PlaceHolder 7"/>
          <p:cNvSpPr>
            <a:spLocks noGrp="1"/>
          </p:cNvSpPr>
          <p:nvPr>
            <p:ph type="body"/>
          </p:nvPr>
        </p:nvSpPr>
        <p:spPr>
          <a:xfrm>
            <a:off x="602208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Slide">
    <p:bg>
      <p:bgPr>
        <a:solidFill>
          <a:srgbClr val="FFFFFF"/>
        </a:solidFill>
        <a:effectLst/>
      </p:bgPr>
    </p:bg>
    <p:spTree>
      <p:nvGrpSpPr>
        <p:cNvPr id="1" name=""/>
        <p:cNvGrpSpPr/>
        <p:nvPr/>
      </p:nvGrpSpPr>
      <p:grpSpPr>
        <a:xfrm>
          <a:off x="0" y="0"/>
          <a:ext cx="0" cy="0"/>
          <a:chOff x="0" y="0"/>
          <a:chExt cx="0" cy="0"/>
        </a:xfrm>
      </p:grpSpPr>
      <p:sp>
        <p:nvSpPr>
          <p:cNvPr id="7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8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3" name="Group 3"/>
          <p:cNvGrpSpPr/>
          <p:nvPr/>
        </p:nvGrpSpPr>
        <p:grpSpPr>
          <a:xfrm>
            <a:off x="6146640" y="0"/>
            <a:ext cx="2996640" cy="875520"/>
            <a:chOff x="6146640" y="0"/>
            <a:chExt cx="2996640" cy="875520"/>
          </a:xfrm>
        </p:grpSpPr>
        <p:sp>
          <p:nvSpPr>
            <p:cNvPr id="8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5" name="Picture 9" descr="LOGO.gif"/>
            <p:cNvPicPr/>
            <p:nvPr/>
          </p:nvPicPr>
          <p:blipFill>
            <a:blip r:embed="rId2"/>
            <a:srcRect b="10729"/>
            <a:stretch/>
          </p:blipFill>
          <p:spPr>
            <a:xfrm>
              <a:off x="6553080" y="228600"/>
              <a:ext cx="2056680" cy="634320"/>
            </a:xfrm>
            <a:prstGeom prst="rect">
              <a:avLst/>
            </a:prstGeom>
            <a:noFill/>
            <a:ln w="9360">
              <a:noFill/>
            </a:ln>
          </p:spPr>
        </p:pic>
        <p:sp>
          <p:nvSpPr>
            <p:cNvPr id="8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87" name="Picture 15" descr="logo.jpg"/>
          <p:cNvPicPr/>
          <p:nvPr/>
        </p:nvPicPr>
        <p:blipFill>
          <a:blip r:embed="rId3"/>
          <a:stretch/>
        </p:blipFill>
        <p:spPr>
          <a:xfrm>
            <a:off x="6553080" y="228600"/>
            <a:ext cx="1920240" cy="608760"/>
          </a:xfrm>
          <a:prstGeom prst="rect">
            <a:avLst/>
          </a:prstGeom>
          <a:noFill/>
          <a:ln w="9360">
            <a:noFill/>
          </a:ln>
        </p:spPr>
      </p:pic>
      <p:pic>
        <p:nvPicPr>
          <p:cNvPr id="8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9" name="Group 6"/>
          <p:cNvGrpSpPr/>
          <p:nvPr/>
        </p:nvGrpSpPr>
        <p:grpSpPr>
          <a:xfrm>
            <a:off x="6146640" y="0"/>
            <a:ext cx="2996640" cy="875520"/>
            <a:chOff x="6146640" y="0"/>
            <a:chExt cx="2996640" cy="875520"/>
          </a:xfrm>
        </p:grpSpPr>
        <p:sp>
          <p:nvSpPr>
            <p:cNvPr id="9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1" name="Picture 9" descr="LOGO.gif"/>
            <p:cNvPicPr/>
            <p:nvPr/>
          </p:nvPicPr>
          <p:blipFill>
            <a:blip r:embed="rId2"/>
            <a:srcRect b="10729"/>
            <a:stretch/>
          </p:blipFill>
          <p:spPr>
            <a:xfrm>
              <a:off x="6553080" y="228600"/>
              <a:ext cx="2056680" cy="634320"/>
            </a:xfrm>
            <a:prstGeom prst="rect">
              <a:avLst/>
            </a:prstGeom>
            <a:noFill/>
            <a:ln w="9360">
              <a:noFill/>
            </a:ln>
          </p:spPr>
        </p:pic>
        <p:sp>
          <p:nvSpPr>
            <p:cNvPr id="9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93" name="Picture 15" descr="logo.jpg"/>
          <p:cNvPicPr/>
          <p:nvPr/>
        </p:nvPicPr>
        <p:blipFill>
          <a:blip r:embed="rId3"/>
          <a:stretch/>
        </p:blipFill>
        <p:spPr>
          <a:xfrm>
            <a:off x="6553080" y="228600"/>
            <a:ext cx="1920240" cy="608760"/>
          </a:xfrm>
          <a:prstGeom prst="rect">
            <a:avLst/>
          </a:prstGeom>
          <a:noFill/>
          <a:ln w="9360">
            <a:noFill/>
          </a:ln>
        </p:spPr>
      </p:pic>
      <p:sp>
        <p:nvSpPr>
          <p:cNvPr id="9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Content">
    <p:bg>
      <p:bgPr>
        <a:solidFill>
          <a:srgbClr val="FFFFFF"/>
        </a:solidFill>
        <a:effectLst/>
      </p:bgPr>
    </p:bg>
    <p:spTree>
      <p:nvGrpSpPr>
        <p:cNvPr id="1" name=""/>
        <p:cNvGrpSpPr/>
        <p:nvPr/>
      </p:nvGrpSpPr>
      <p:grpSpPr>
        <a:xfrm>
          <a:off x="0" y="0"/>
          <a:ext cx="0" cy="0"/>
          <a:chOff x="0" y="0"/>
          <a:chExt cx="0" cy="0"/>
        </a:xfrm>
      </p:grpSpPr>
      <p:sp>
        <p:nvSpPr>
          <p:cNvPr id="95"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7"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9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99" name="Group 3"/>
          <p:cNvGrpSpPr/>
          <p:nvPr/>
        </p:nvGrpSpPr>
        <p:grpSpPr>
          <a:xfrm>
            <a:off x="6146640" y="0"/>
            <a:ext cx="2996640" cy="875520"/>
            <a:chOff x="6146640" y="0"/>
            <a:chExt cx="2996640" cy="875520"/>
          </a:xfrm>
        </p:grpSpPr>
        <p:sp>
          <p:nvSpPr>
            <p:cNvPr id="100"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1" name="Picture 9" descr="LOGO.gif"/>
            <p:cNvPicPr/>
            <p:nvPr/>
          </p:nvPicPr>
          <p:blipFill>
            <a:blip r:embed="rId2"/>
            <a:srcRect b="10729"/>
            <a:stretch/>
          </p:blipFill>
          <p:spPr>
            <a:xfrm>
              <a:off x="6553080" y="228600"/>
              <a:ext cx="2056680" cy="634320"/>
            </a:xfrm>
            <a:prstGeom prst="rect">
              <a:avLst/>
            </a:prstGeom>
            <a:noFill/>
            <a:ln w="9360">
              <a:noFill/>
            </a:ln>
          </p:spPr>
        </p:pic>
        <p:sp>
          <p:nvSpPr>
            <p:cNvPr id="102"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3" name="Picture 15" descr="logo.jpg"/>
          <p:cNvPicPr/>
          <p:nvPr/>
        </p:nvPicPr>
        <p:blipFill>
          <a:blip r:embed="rId3"/>
          <a:stretch/>
        </p:blipFill>
        <p:spPr>
          <a:xfrm>
            <a:off x="6553080" y="228600"/>
            <a:ext cx="1920240" cy="608760"/>
          </a:xfrm>
          <a:prstGeom prst="rect">
            <a:avLst/>
          </a:prstGeom>
          <a:noFill/>
          <a:ln w="9360">
            <a:noFill/>
          </a:ln>
        </p:spPr>
      </p:pic>
      <p:pic>
        <p:nvPicPr>
          <p:cNvPr id="10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05" name="Group 6"/>
          <p:cNvGrpSpPr/>
          <p:nvPr/>
        </p:nvGrpSpPr>
        <p:grpSpPr>
          <a:xfrm>
            <a:off x="6146640" y="0"/>
            <a:ext cx="2996640" cy="875520"/>
            <a:chOff x="6146640" y="0"/>
            <a:chExt cx="2996640" cy="875520"/>
          </a:xfrm>
        </p:grpSpPr>
        <p:sp>
          <p:nvSpPr>
            <p:cNvPr id="106"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7" name="Picture 9" descr="LOGO.gif"/>
            <p:cNvPicPr/>
            <p:nvPr/>
          </p:nvPicPr>
          <p:blipFill>
            <a:blip r:embed="rId2"/>
            <a:srcRect b="10729"/>
            <a:stretch/>
          </p:blipFill>
          <p:spPr>
            <a:xfrm>
              <a:off x="6553080" y="228600"/>
              <a:ext cx="2056680" cy="634320"/>
            </a:xfrm>
            <a:prstGeom prst="rect">
              <a:avLst/>
            </a:prstGeom>
            <a:noFill/>
            <a:ln w="9360">
              <a:noFill/>
            </a:ln>
          </p:spPr>
        </p:pic>
        <p:sp>
          <p:nvSpPr>
            <p:cNvPr id="108"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9" name="Picture 15" descr="logo.jpg"/>
          <p:cNvPicPr/>
          <p:nvPr/>
        </p:nvPicPr>
        <p:blipFill>
          <a:blip r:embed="rId3"/>
          <a:stretch/>
        </p:blipFill>
        <p:spPr>
          <a:xfrm>
            <a:off x="6553080" y="228600"/>
            <a:ext cx="1920240" cy="608760"/>
          </a:xfrm>
          <a:prstGeom prst="rect">
            <a:avLst/>
          </a:prstGeom>
          <a:noFill/>
          <a:ln w="9360">
            <a:noFill/>
          </a:ln>
        </p:spPr>
      </p:pic>
      <p:sp>
        <p:nvSpPr>
          <p:cNvPr id="110"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11"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itle, 2 Content">
    <p:bg>
      <p:bgPr>
        <a:solidFill>
          <a:srgbClr val="FFFFFF"/>
        </a:solidFill>
        <a:effectLst/>
      </p:bgPr>
    </p:bg>
    <p:spTree>
      <p:nvGrpSpPr>
        <p:cNvPr id="1" name=""/>
        <p:cNvGrpSpPr/>
        <p:nvPr/>
      </p:nvGrpSpPr>
      <p:grpSpPr>
        <a:xfrm>
          <a:off x="0" y="0"/>
          <a:ext cx="0" cy="0"/>
          <a:chOff x="0" y="0"/>
          <a:chExt cx="0" cy="0"/>
        </a:xfrm>
      </p:grpSpPr>
      <p:sp>
        <p:nvSpPr>
          <p:cNvPr id="11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1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16" name="Group 3"/>
          <p:cNvGrpSpPr/>
          <p:nvPr/>
        </p:nvGrpSpPr>
        <p:grpSpPr>
          <a:xfrm>
            <a:off x="6146640" y="0"/>
            <a:ext cx="2996640" cy="875520"/>
            <a:chOff x="6146640" y="0"/>
            <a:chExt cx="2996640" cy="875520"/>
          </a:xfrm>
        </p:grpSpPr>
        <p:sp>
          <p:nvSpPr>
            <p:cNvPr id="11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8" name="Picture 9" descr="LOGO.gif"/>
            <p:cNvPicPr/>
            <p:nvPr/>
          </p:nvPicPr>
          <p:blipFill>
            <a:blip r:embed="rId2"/>
            <a:srcRect b="10729"/>
            <a:stretch/>
          </p:blipFill>
          <p:spPr>
            <a:xfrm>
              <a:off x="6553080" y="228600"/>
              <a:ext cx="2056680" cy="634320"/>
            </a:xfrm>
            <a:prstGeom prst="rect">
              <a:avLst/>
            </a:prstGeom>
            <a:noFill/>
            <a:ln w="9360">
              <a:noFill/>
            </a:ln>
          </p:spPr>
        </p:pic>
        <p:sp>
          <p:nvSpPr>
            <p:cNvPr id="11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0" name="Picture 15" descr="logo.jpg"/>
          <p:cNvPicPr/>
          <p:nvPr/>
        </p:nvPicPr>
        <p:blipFill>
          <a:blip r:embed="rId3"/>
          <a:stretch/>
        </p:blipFill>
        <p:spPr>
          <a:xfrm>
            <a:off x="6553080" y="228600"/>
            <a:ext cx="1920240" cy="608760"/>
          </a:xfrm>
          <a:prstGeom prst="rect">
            <a:avLst/>
          </a:prstGeom>
          <a:noFill/>
          <a:ln w="9360">
            <a:noFill/>
          </a:ln>
        </p:spPr>
      </p:pic>
      <p:pic>
        <p:nvPicPr>
          <p:cNvPr id="12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2" name="Group 6"/>
          <p:cNvGrpSpPr/>
          <p:nvPr/>
        </p:nvGrpSpPr>
        <p:grpSpPr>
          <a:xfrm>
            <a:off x="6146640" y="0"/>
            <a:ext cx="2996640" cy="875520"/>
            <a:chOff x="6146640" y="0"/>
            <a:chExt cx="2996640" cy="875520"/>
          </a:xfrm>
        </p:grpSpPr>
        <p:sp>
          <p:nvSpPr>
            <p:cNvPr id="12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24" name="Picture 9" descr="LOGO.gif"/>
            <p:cNvPicPr/>
            <p:nvPr/>
          </p:nvPicPr>
          <p:blipFill>
            <a:blip r:embed="rId2"/>
            <a:srcRect b="10729"/>
            <a:stretch/>
          </p:blipFill>
          <p:spPr>
            <a:xfrm>
              <a:off x="6553080" y="228600"/>
              <a:ext cx="2056680" cy="634320"/>
            </a:xfrm>
            <a:prstGeom prst="rect">
              <a:avLst/>
            </a:prstGeom>
            <a:noFill/>
            <a:ln w="9360">
              <a:noFill/>
            </a:ln>
          </p:spPr>
        </p:pic>
        <p:sp>
          <p:nvSpPr>
            <p:cNvPr id="12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6" name="Picture 15" descr="logo.jpg"/>
          <p:cNvPicPr/>
          <p:nvPr/>
        </p:nvPicPr>
        <p:blipFill>
          <a:blip r:embed="rId3"/>
          <a:stretch/>
        </p:blipFill>
        <p:spPr>
          <a:xfrm>
            <a:off x="6553080" y="228600"/>
            <a:ext cx="1920240" cy="608760"/>
          </a:xfrm>
          <a:prstGeom prst="rect">
            <a:avLst/>
          </a:prstGeom>
          <a:noFill/>
          <a:ln w="9360">
            <a:noFill/>
          </a:ln>
        </p:spPr>
      </p:pic>
      <p:sp>
        <p:nvSpPr>
          <p:cNvPr id="12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28"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2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3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3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34" name="Group 3"/>
          <p:cNvGrpSpPr/>
          <p:nvPr/>
        </p:nvGrpSpPr>
        <p:grpSpPr>
          <a:xfrm>
            <a:off x="6146640" y="0"/>
            <a:ext cx="2996640" cy="875520"/>
            <a:chOff x="6146640" y="0"/>
            <a:chExt cx="2996640" cy="875520"/>
          </a:xfrm>
        </p:grpSpPr>
        <p:sp>
          <p:nvSpPr>
            <p:cNvPr id="13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6" name="Picture 9" descr="LOGO.gif"/>
            <p:cNvPicPr/>
            <p:nvPr/>
          </p:nvPicPr>
          <p:blipFill>
            <a:blip r:embed="rId2"/>
            <a:srcRect b="10729"/>
            <a:stretch/>
          </p:blipFill>
          <p:spPr>
            <a:xfrm>
              <a:off x="6553080" y="228600"/>
              <a:ext cx="2056680" cy="634320"/>
            </a:xfrm>
            <a:prstGeom prst="rect">
              <a:avLst/>
            </a:prstGeom>
            <a:noFill/>
            <a:ln w="9360">
              <a:noFill/>
            </a:ln>
          </p:spPr>
        </p:pic>
        <p:sp>
          <p:nvSpPr>
            <p:cNvPr id="13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38" name="Picture 15" descr="logo.jpg"/>
          <p:cNvPicPr/>
          <p:nvPr/>
        </p:nvPicPr>
        <p:blipFill>
          <a:blip r:embed="rId3"/>
          <a:stretch/>
        </p:blipFill>
        <p:spPr>
          <a:xfrm>
            <a:off x="6553080" y="228600"/>
            <a:ext cx="1920240" cy="608760"/>
          </a:xfrm>
          <a:prstGeom prst="rect">
            <a:avLst/>
          </a:prstGeom>
          <a:noFill/>
          <a:ln w="9360">
            <a:noFill/>
          </a:ln>
        </p:spPr>
      </p:pic>
      <p:pic>
        <p:nvPicPr>
          <p:cNvPr id="13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40" name="Group 6"/>
          <p:cNvGrpSpPr/>
          <p:nvPr/>
        </p:nvGrpSpPr>
        <p:grpSpPr>
          <a:xfrm>
            <a:off x="6146640" y="0"/>
            <a:ext cx="2996640" cy="875520"/>
            <a:chOff x="6146640" y="0"/>
            <a:chExt cx="2996640" cy="875520"/>
          </a:xfrm>
        </p:grpSpPr>
        <p:sp>
          <p:nvSpPr>
            <p:cNvPr id="14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2" name="Picture 9" descr="LOGO.gif"/>
            <p:cNvPicPr/>
            <p:nvPr/>
          </p:nvPicPr>
          <p:blipFill>
            <a:blip r:embed="rId2"/>
            <a:srcRect b="10729"/>
            <a:stretch/>
          </p:blipFill>
          <p:spPr>
            <a:xfrm>
              <a:off x="6553080" y="228600"/>
              <a:ext cx="2056680" cy="634320"/>
            </a:xfrm>
            <a:prstGeom prst="rect">
              <a:avLst/>
            </a:prstGeom>
            <a:noFill/>
            <a:ln w="9360">
              <a:noFill/>
            </a:ln>
          </p:spPr>
        </p:pic>
        <p:sp>
          <p:nvSpPr>
            <p:cNvPr id="14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44" name="Picture 15" descr="logo.jpg"/>
          <p:cNvPicPr/>
          <p:nvPr/>
        </p:nvPicPr>
        <p:blipFill>
          <a:blip r:embed="rId3"/>
          <a:stretch/>
        </p:blipFill>
        <p:spPr>
          <a:xfrm>
            <a:off x="6553080" y="228600"/>
            <a:ext cx="1920240" cy="608760"/>
          </a:xfrm>
          <a:prstGeom prst="rect">
            <a:avLst/>
          </a:prstGeom>
          <a:noFill/>
          <a:ln w="9360">
            <a:noFill/>
          </a:ln>
        </p:spPr>
      </p:pic>
      <p:sp>
        <p:nvSpPr>
          <p:cNvPr id="1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46"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mediaAndTx" preserve="1">
  <p:cSld name="Centered Text">
    <p:bg>
      <p:bgPr>
        <a:solidFill>
          <a:srgbClr val="FFFFFF"/>
        </a:solidFill>
        <a:effectLst/>
      </p:bgPr>
    </p:bg>
    <p:spTree>
      <p:nvGrpSpPr>
        <p:cNvPr id="1" name=""/>
        <p:cNvGrpSpPr/>
        <p:nvPr/>
      </p:nvGrpSpPr>
      <p:grpSpPr>
        <a:xfrm>
          <a:off x="0" y="0"/>
          <a:ext cx="0" cy="0"/>
          <a:chOff x="0" y="0"/>
          <a:chExt cx="0" cy="0"/>
        </a:xfrm>
      </p:grpSpPr>
      <p:sp>
        <p:nvSpPr>
          <p:cNvPr id="14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5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1" name="Group 3"/>
          <p:cNvGrpSpPr/>
          <p:nvPr/>
        </p:nvGrpSpPr>
        <p:grpSpPr>
          <a:xfrm>
            <a:off x="6146640" y="0"/>
            <a:ext cx="2996640" cy="875520"/>
            <a:chOff x="6146640" y="0"/>
            <a:chExt cx="2996640" cy="875520"/>
          </a:xfrm>
        </p:grpSpPr>
        <p:sp>
          <p:nvSpPr>
            <p:cNvPr id="15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3" name="Picture 9" descr="LOGO.gif"/>
            <p:cNvPicPr/>
            <p:nvPr/>
          </p:nvPicPr>
          <p:blipFill>
            <a:blip r:embed="rId2"/>
            <a:srcRect b="10729"/>
            <a:stretch/>
          </p:blipFill>
          <p:spPr>
            <a:xfrm>
              <a:off x="6553080" y="228600"/>
              <a:ext cx="2056680" cy="634320"/>
            </a:xfrm>
            <a:prstGeom prst="rect">
              <a:avLst/>
            </a:prstGeom>
            <a:noFill/>
            <a:ln w="9360">
              <a:noFill/>
            </a:ln>
          </p:spPr>
        </p:pic>
        <p:sp>
          <p:nvSpPr>
            <p:cNvPr id="15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55" name="Picture 15" descr="logo.jpg"/>
          <p:cNvPicPr/>
          <p:nvPr/>
        </p:nvPicPr>
        <p:blipFill>
          <a:blip r:embed="rId3"/>
          <a:stretch/>
        </p:blipFill>
        <p:spPr>
          <a:xfrm>
            <a:off x="6553080" y="228600"/>
            <a:ext cx="1920240" cy="608760"/>
          </a:xfrm>
          <a:prstGeom prst="rect">
            <a:avLst/>
          </a:prstGeom>
          <a:noFill/>
          <a:ln w="9360">
            <a:noFill/>
          </a:ln>
        </p:spPr>
      </p:pic>
      <p:pic>
        <p:nvPicPr>
          <p:cNvPr id="15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7" name="Group 6"/>
          <p:cNvGrpSpPr/>
          <p:nvPr/>
        </p:nvGrpSpPr>
        <p:grpSpPr>
          <a:xfrm>
            <a:off x="6146640" y="0"/>
            <a:ext cx="2996640" cy="875520"/>
            <a:chOff x="6146640" y="0"/>
            <a:chExt cx="2996640" cy="875520"/>
          </a:xfrm>
        </p:grpSpPr>
        <p:sp>
          <p:nvSpPr>
            <p:cNvPr id="15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9" name="Picture 9" descr="LOGO.gif"/>
            <p:cNvPicPr/>
            <p:nvPr/>
          </p:nvPicPr>
          <p:blipFill>
            <a:blip r:embed="rId2"/>
            <a:srcRect b="10729"/>
            <a:stretch/>
          </p:blipFill>
          <p:spPr>
            <a:xfrm>
              <a:off x="6553080" y="228600"/>
              <a:ext cx="2056680" cy="634320"/>
            </a:xfrm>
            <a:prstGeom prst="rect">
              <a:avLst/>
            </a:prstGeom>
            <a:noFill/>
            <a:ln w="9360">
              <a:noFill/>
            </a:ln>
          </p:spPr>
        </p:pic>
        <p:sp>
          <p:nvSpPr>
            <p:cNvPr id="16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1" name="Picture 15" descr="logo.jpg"/>
          <p:cNvPicPr/>
          <p:nvPr/>
        </p:nvPicPr>
        <p:blipFill>
          <a:blip r:embed="rId3"/>
          <a:stretch/>
        </p:blipFill>
        <p:spPr>
          <a:xfrm>
            <a:off x="6553080" y="228600"/>
            <a:ext cx="1920240" cy="608760"/>
          </a:xfrm>
          <a:prstGeom prst="rect">
            <a:avLst/>
          </a:prstGeom>
          <a:noFill/>
          <a:ln w="936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bg>
      <p:bgPr>
        <a:solidFill>
          <a:srgbClr val="FFFFFF"/>
        </a:solidFill>
        <a:effectLst/>
      </p:bgPr>
    </p:bg>
    <p:spTree>
      <p:nvGrpSpPr>
        <p:cNvPr id="1" name=""/>
        <p:cNvGrpSpPr/>
        <p:nvPr/>
      </p:nvGrpSpPr>
      <p:grpSpPr>
        <a:xfrm>
          <a:off x="0" y="0"/>
          <a:ext cx="0" cy="0"/>
          <a:chOff x="0" y="0"/>
          <a:chExt cx="0" cy="0"/>
        </a:xfrm>
      </p:grpSpPr>
      <p:sp>
        <p:nvSpPr>
          <p:cNvPr id="16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6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66" name="Group 3"/>
          <p:cNvGrpSpPr/>
          <p:nvPr/>
        </p:nvGrpSpPr>
        <p:grpSpPr>
          <a:xfrm>
            <a:off x="6146640" y="0"/>
            <a:ext cx="2996640" cy="875520"/>
            <a:chOff x="6146640" y="0"/>
            <a:chExt cx="2996640" cy="875520"/>
          </a:xfrm>
        </p:grpSpPr>
        <p:sp>
          <p:nvSpPr>
            <p:cNvPr id="16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8" name="Picture 9" descr="LOGO.gif"/>
            <p:cNvPicPr/>
            <p:nvPr/>
          </p:nvPicPr>
          <p:blipFill>
            <a:blip r:embed="rId2"/>
            <a:srcRect b="10729"/>
            <a:stretch/>
          </p:blipFill>
          <p:spPr>
            <a:xfrm>
              <a:off x="6553080" y="228600"/>
              <a:ext cx="2056680" cy="634320"/>
            </a:xfrm>
            <a:prstGeom prst="rect">
              <a:avLst/>
            </a:prstGeom>
            <a:noFill/>
            <a:ln w="9360">
              <a:noFill/>
            </a:ln>
          </p:spPr>
        </p:pic>
        <p:sp>
          <p:nvSpPr>
            <p:cNvPr id="16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0" name="Picture 15" descr="logo.jpg"/>
          <p:cNvPicPr/>
          <p:nvPr/>
        </p:nvPicPr>
        <p:blipFill>
          <a:blip r:embed="rId3"/>
          <a:stretch/>
        </p:blipFill>
        <p:spPr>
          <a:xfrm>
            <a:off x="6553080" y="228600"/>
            <a:ext cx="1920240" cy="608760"/>
          </a:xfrm>
          <a:prstGeom prst="rect">
            <a:avLst/>
          </a:prstGeom>
          <a:noFill/>
          <a:ln w="9360">
            <a:noFill/>
          </a:ln>
        </p:spPr>
      </p:pic>
      <p:pic>
        <p:nvPicPr>
          <p:cNvPr id="17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72" name="Group 6"/>
          <p:cNvGrpSpPr/>
          <p:nvPr/>
        </p:nvGrpSpPr>
        <p:grpSpPr>
          <a:xfrm>
            <a:off x="6146640" y="0"/>
            <a:ext cx="2996640" cy="875520"/>
            <a:chOff x="6146640" y="0"/>
            <a:chExt cx="2996640" cy="875520"/>
          </a:xfrm>
        </p:grpSpPr>
        <p:sp>
          <p:nvSpPr>
            <p:cNvPr id="17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74" name="Picture 9" descr="LOGO.gif"/>
            <p:cNvPicPr/>
            <p:nvPr/>
          </p:nvPicPr>
          <p:blipFill>
            <a:blip r:embed="rId2"/>
            <a:srcRect b="10729"/>
            <a:stretch/>
          </p:blipFill>
          <p:spPr>
            <a:xfrm>
              <a:off x="6553080" y="228600"/>
              <a:ext cx="2056680" cy="634320"/>
            </a:xfrm>
            <a:prstGeom prst="rect">
              <a:avLst/>
            </a:prstGeom>
            <a:noFill/>
            <a:ln w="9360">
              <a:noFill/>
            </a:ln>
          </p:spPr>
        </p:pic>
        <p:sp>
          <p:nvSpPr>
            <p:cNvPr id="17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6" name="Picture 15" descr="logo.jpg"/>
          <p:cNvPicPr/>
          <p:nvPr/>
        </p:nvPicPr>
        <p:blipFill>
          <a:blip r:embed="rId3"/>
          <a:stretch/>
        </p:blipFill>
        <p:spPr>
          <a:xfrm>
            <a:off x="6553080" y="228600"/>
            <a:ext cx="1920240" cy="608760"/>
          </a:xfrm>
          <a:prstGeom prst="rect">
            <a:avLst/>
          </a:prstGeom>
          <a:noFill/>
          <a:ln w="9360">
            <a:noFill/>
          </a:ln>
        </p:spPr>
      </p:pic>
      <p:sp>
        <p:nvSpPr>
          <p:cNvPr id="17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78"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7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80"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bg>
      <p:bgPr>
        <a:solidFill>
          <a:srgbClr val="FFFFFF"/>
        </a:solidFill>
        <a:effectLst/>
      </p:bgPr>
    </p:bg>
    <p:spTree>
      <p:nvGrpSpPr>
        <p:cNvPr id="1" name=""/>
        <p:cNvGrpSpPr/>
        <p:nvPr/>
      </p:nvGrpSpPr>
      <p:grpSpPr>
        <a:xfrm>
          <a:off x="0" y="0"/>
          <a:ext cx="0" cy="0"/>
          <a:chOff x="0" y="0"/>
          <a:chExt cx="0" cy="0"/>
        </a:xfrm>
      </p:grpSpPr>
      <p:sp>
        <p:nvSpPr>
          <p:cNvPr id="181"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2"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3"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8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85" name="Group 3"/>
          <p:cNvGrpSpPr/>
          <p:nvPr/>
        </p:nvGrpSpPr>
        <p:grpSpPr>
          <a:xfrm>
            <a:off x="6146640" y="0"/>
            <a:ext cx="2996640" cy="875520"/>
            <a:chOff x="6146640" y="0"/>
            <a:chExt cx="2996640" cy="875520"/>
          </a:xfrm>
        </p:grpSpPr>
        <p:sp>
          <p:nvSpPr>
            <p:cNvPr id="186"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7" name="Picture 9" descr="LOGO.gif"/>
            <p:cNvPicPr/>
            <p:nvPr/>
          </p:nvPicPr>
          <p:blipFill>
            <a:blip r:embed="rId2"/>
            <a:srcRect b="10729"/>
            <a:stretch/>
          </p:blipFill>
          <p:spPr>
            <a:xfrm>
              <a:off x="6553080" y="228600"/>
              <a:ext cx="2056680" cy="634320"/>
            </a:xfrm>
            <a:prstGeom prst="rect">
              <a:avLst/>
            </a:prstGeom>
            <a:noFill/>
            <a:ln w="9360">
              <a:noFill/>
            </a:ln>
          </p:spPr>
        </p:pic>
        <p:sp>
          <p:nvSpPr>
            <p:cNvPr id="188"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89" name="Picture 15" descr="logo.jpg"/>
          <p:cNvPicPr/>
          <p:nvPr/>
        </p:nvPicPr>
        <p:blipFill>
          <a:blip r:embed="rId3"/>
          <a:stretch/>
        </p:blipFill>
        <p:spPr>
          <a:xfrm>
            <a:off x="6553080" y="228600"/>
            <a:ext cx="1920240" cy="608760"/>
          </a:xfrm>
          <a:prstGeom prst="rect">
            <a:avLst/>
          </a:prstGeom>
          <a:noFill/>
          <a:ln w="9360">
            <a:noFill/>
          </a:ln>
        </p:spPr>
      </p:pic>
      <p:pic>
        <p:nvPicPr>
          <p:cNvPr id="19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91" name="Group 6"/>
          <p:cNvGrpSpPr/>
          <p:nvPr/>
        </p:nvGrpSpPr>
        <p:grpSpPr>
          <a:xfrm>
            <a:off x="6146640" y="0"/>
            <a:ext cx="2996640" cy="875520"/>
            <a:chOff x="6146640" y="0"/>
            <a:chExt cx="2996640" cy="875520"/>
          </a:xfrm>
        </p:grpSpPr>
        <p:sp>
          <p:nvSpPr>
            <p:cNvPr id="192"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93" name="Picture 9" descr="LOGO.gif"/>
            <p:cNvPicPr/>
            <p:nvPr/>
          </p:nvPicPr>
          <p:blipFill>
            <a:blip r:embed="rId2"/>
            <a:srcRect b="10729"/>
            <a:stretch/>
          </p:blipFill>
          <p:spPr>
            <a:xfrm>
              <a:off x="6553080" y="228600"/>
              <a:ext cx="2056680" cy="634320"/>
            </a:xfrm>
            <a:prstGeom prst="rect">
              <a:avLst/>
            </a:prstGeom>
            <a:noFill/>
            <a:ln w="9360">
              <a:noFill/>
            </a:ln>
          </p:spPr>
        </p:pic>
        <p:sp>
          <p:nvSpPr>
            <p:cNvPr id="194"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95" name="Picture 15" descr="logo.jpg"/>
          <p:cNvPicPr/>
          <p:nvPr/>
        </p:nvPicPr>
        <p:blipFill>
          <a:blip r:embed="rId3"/>
          <a:stretch/>
        </p:blipFill>
        <p:spPr>
          <a:xfrm>
            <a:off x="6553080" y="228600"/>
            <a:ext cx="1920240" cy="608760"/>
          </a:xfrm>
          <a:prstGeom prst="rect">
            <a:avLst/>
          </a:prstGeom>
          <a:noFill/>
          <a:ln w="9360">
            <a:noFill/>
          </a:ln>
        </p:spPr>
      </p:pic>
      <p:sp>
        <p:nvSpPr>
          <p:cNvPr id="196"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97"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8"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9" name="PlaceHolder 4"/>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bg>
      <p:bgPr>
        <a:solidFill>
          <a:srgbClr val="FFFFFF"/>
        </a:solidFill>
        <a:effectLst/>
      </p:bgPr>
    </p:bg>
    <p:spTree>
      <p:nvGrpSpPr>
        <p:cNvPr id="1" name=""/>
        <p:cNvGrpSpPr/>
        <p:nvPr/>
      </p:nvGrpSpPr>
      <p:grpSpPr>
        <a:xfrm>
          <a:off x="0" y="0"/>
          <a:ext cx="0" cy="0"/>
          <a:chOff x="0" y="0"/>
          <a:chExt cx="0" cy="0"/>
        </a:xfrm>
      </p:grpSpPr>
      <p:sp>
        <p:nvSpPr>
          <p:cNvPr id="20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0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04" name="Group 3"/>
          <p:cNvGrpSpPr/>
          <p:nvPr/>
        </p:nvGrpSpPr>
        <p:grpSpPr>
          <a:xfrm>
            <a:off x="6146640" y="0"/>
            <a:ext cx="2996640" cy="875520"/>
            <a:chOff x="6146640" y="0"/>
            <a:chExt cx="2996640" cy="875520"/>
          </a:xfrm>
        </p:grpSpPr>
        <p:sp>
          <p:nvSpPr>
            <p:cNvPr id="20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6" name="Picture 9" descr="LOGO.gif"/>
            <p:cNvPicPr/>
            <p:nvPr/>
          </p:nvPicPr>
          <p:blipFill>
            <a:blip r:embed="rId2"/>
            <a:srcRect b="10729"/>
            <a:stretch/>
          </p:blipFill>
          <p:spPr>
            <a:xfrm>
              <a:off x="6553080" y="228600"/>
              <a:ext cx="2056680" cy="634320"/>
            </a:xfrm>
            <a:prstGeom prst="rect">
              <a:avLst/>
            </a:prstGeom>
            <a:noFill/>
            <a:ln w="9360">
              <a:noFill/>
            </a:ln>
          </p:spPr>
        </p:pic>
        <p:sp>
          <p:nvSpPr>
            <p:cNvPr id="20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08" name="Picture 15" descr="logo.jpg"/>
          <p:cNvPicPr/>
          <p:nvPr/>
        </p:nvPicPr>
        <p:blipFill>
          <a:blip r:embed="rId3"/>
          <a:stretch/>
        </p:blipFill>
        <p:spPr>
          <a:xfrm>
            <a:off x="6553080" y="228600"/>
            <a:ext cx="1920240" cy="608760"/>
          </a:xfrm>
          <a:prstGeom prst="rect">
            <a:avLst/>
          </a:prstGeom>
          <a:noFill/>
          <a:ln w="9360">
            <a:noFill/>
          </a:ln>
        </p:spPr>
      </p:pic>
      <p:pic>
        <p:nvPicPr>
          <p:cNvPr id="20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10" name="Group 6"/>
          <p:cNvGrpSpPr/>
          <p:nvPr/>
        </p:nvGrpSpPr>
        <p:grpSpPr>
          <a:xfrm>
            <a:off x="6146640" y="0"/>
            <a:ext cx="2996640" cy="875520"/>
            <a:chOff x="6146640" y="0"/>
            <a:chExt cx="2996640" cy="875520"/>
          </a:xfrm>
        </p:grpSpPr>
        <p:sp>
          <p:nvSpPr>
            <p:cNvPr id="21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2" name="Picture 9" descr="LOGO.gif"/>
            <p:cNvPicPr/>
            <p:nvPr/>
          </p:nvPicPr>
          <p:blipFill>
            <a:blip r:embed="rId2"/>
            <a:srcRect b="10729"/>
            <a:stretch/>
          </p:blipFill>
          <p:spPr>
            <a:xfrm>
              <a:off x="6553080" y="228600"/>
              <a:ext cx="2056680" cy="634320"/>
            </a:xfrm>
            <a:prstGeom prst="rect">
              <a:avLst/>
            </a:prstGeom>
            <a:noFill/>
            <a:ln w="9360">
              <a:noFill/>
            </a:ln>
          </p:spPr>
        </p:pic>
        <p:sp>
          <p:nvSpPr>
            <p:cNvPr id="21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14" name="Picture 15" descr="logo.jpg"/>
          <p:cNvPicPr/>
          <p:nvPr/>
        </p:nvPicPr>
        <p:blipFill>
          <a:blip r:embed="rId3"/>
          <a:stretch/>
        </p:blipFill>
        <p:spPr>
          <a:xfrm>
            <a:off x="6553080" y="228600"/>
            <a:ext cx="1920240" cy="608760"/>
          </a:xfrm>
          <a:prstGeom prst="rect">
            <a:avLst/>
          </a:prstGeom>
          <a:noFill/>
          <a:ln w="9360">
            <a:noFill/>
          </a:ln>
        </p:spPr>
      </p:pic>
      <p:sp>
        <p:nvSpPr>
          <p:cNvPr id="21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216"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7"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8" name="PlaceHolder 4"/>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hyperlink" Target="https://ai.google.dev/" TargetMode="External"/><Relationship Id="rId3" Type="http://schemas.openxmlformats.org/officeDocument/2006/relationships/hyperlink" Target="https://vitejs.dev/" TargetMode="External"/><Relationship Id="rId7" Type="http://schemas.openxmlformats.org/officeDocument/2006/relationships/hyperlink" Target="https://mongoosejs.com/" TargetMode="External"/><Relationship Id="rId2" Type="http://schemas.openxmlformats.org/officeDocument/2006/relationships/hyperlink" Target="https://react.dev/" TargetMode="External"/><Relationship Id="rId1" Type="http://schemas.openxmlformats.org/officeDocument/2006/relationships/slideLayout" Target="../slideLayouts/slideLayout6.xml"/><Relationship Id="rId6" Type="http://schemas.openxmlformats.org/officeDocument/2006/relationships/hyperlink" Target="https://www.mongodb.com/atlas" TargetMode="External"/><Relationship Id="rId5" Type="http://schemas.openxmlformats.org/officeDocument/2006/relationships/hyperlink" Target="https://expressjs.com/" TargetMode="External"/><Relationship Id="rId4" Type="http://schemas.openxmlformats.org/officeDocument/2006/relationships/hyperlink" Target="https://nodejs.or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p:nvPr/>
        </p:nvSpPr>
        <p:spPr>
          <a:xfrm>
            <a:off x="0" y="840600"/>
            <a:ext cx="9143640" cy="6017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spcBef>
                <a:spcPts val="400"/>
              </a:spcBef>
            </a:pPr>
            <a:r>
              <a:rPr lang="en-IN" sz="1800" b="1" u="none" strike="noStrike" dirty="0">
                <a:solidFill>
                  <a:schemeClr val="dk1"/>
                </a:solidFill>
                <a:effectLst/>
                <a:uFillTx/>
                <a:latin typeface="Times New Roman"/>
                <a:ea typeface="Calibri"/>
              </a:rPr>
              <a:t>Project Presentation of COOP</a:t>
            </a:r>
            <a:endParaRPr lang="en-US" sz="1800" b="0" u="none" strike="noStrike" dirty="0">
              <a:solidFill>
                <a:srgbClr val="000000"/>
              </a:solidFill>
              <a:effectLst/>
              <a:uFillTx/>
              <a:latin typeface="Arial"/>
            </a:endParaRPr>
          </a:p>
          <a:p>
            <a:pPr algn="ctr" defTabSz="914400">
              <a:lnSpc>
                <a:spcPct val="100000"/>
              </a:lnSpc>
              <a:spcBef>
                <a:spcPts val="400"/>
              </a:spcBef>
            </a:pPr>
            <a:r>
              <a:rPr lang="en-US" sz="2000" b="0" u="none" strike="noStrike" dirty="0">
                <a:solidFill>
                  <a:schemeClr val="dk1"/>
                </a:solidFill>
                <a:effectLst/>
                <a:uFillTx/>
                <a:latin typeface="Times New Roman"/>
                <a:ea typeface="Calibri"/>
              </a:rPr>
              <a:t>On</a:t>
            </a:r>
            <a:endParaRPr lang="en-US" sz="2000" b="0" u="none" strike="noStrike" dirty="0">
              <a:solidFill>
                <a:srgbClr val="000000"/>
              </a:solidFill>
              <a:effectLst/>
              <a:uFillTx/>
              <a:latin typeface="Arial"/>
            </a:endParaRPr>
          </a:p>
          <a:p>
            <a:pPr algn="ctr" defTabSz="914400">
              <a:lnSpc>
                <a:spcPct val="100000"/>
              </a:lnSpc>
              <a:spcBef>
                <a:spcPts val="400"/>
              </a:spcBef>
            </a:pPr>
            <a:r>
              <a:rPr lang="en-US" sz="4800" dirty="0">
                <a:solidFill>
                  <a:schemeClr val="dk1"/>
                </a:solidFill>
                <a:latin typeface="Times New Roman"/>
                <a:ea typeface="Calibri"/>
              </a:rPr>
              <a:t>Smart Study Planner</a:t>
            </a:r>
          </a:p>
          <a:p>
            <a:pPr algn="ctr" defTabSz="914400">
              <a:lnSpc>
                <a:spcPct val="100000"/>
              </a:lnSpc>
              <a:spcBef>
                <a:spcPts val="400"/>
              </a:spcBef>
            </a:pPr>
            <a:br>
              <a:rPr sz="2000" dirty="0"/>
            </a:br>
            <a:r>
              <a:rPr lang="en-US" sz="2000" dirty="0">
                <a:solidFill>
                  <a:srgbClr val="000000"/>
                </a:solidFill>
                <a:latin typeface="Times New Roman"/>
                <a:ea typeface="MS PGothic"/>
              </a:rPr>
              <a:t>Taranpreet Singh 2210992454</a:t>
            </a:r>
          </a:p>
          <a:p>
            <a:pPr algn="ctr" defTabSz="914400">
              <a:lnSpc>
                <a:spcPct val="100000"/>
              </a:lnSpc>
              <a:spcBef>
                <a:spcPts val="400"/>
              </a:spcBef>
            </a:pPr>
            <a:r>
              <a:rPr lang="en-US" sz="2000" dirty="0">
                <a:solidFill>
                  <a:srgbClr val="000000"/>
                </a:solidFill>
                <a:latin typeface="Times New Roman"/>
                <a:ea typeface="MS PGothic"/>
              </a:rPr>
              <a:t>Purab Vats 2210990692</a:t>
            </a:r>
          </a:p>
          <a:p>
            <a:pPr algn="ctr" defTabSz="914400">
              <a:lnSpc>
                <a:spcPct val="100000"/>
              </a:lnSpc>
              <a:spcBef>
                <a:spcPts val="400"/>
              </a:spcBef>
            </a:pPr>
            <a:r>
              <a:rPr lang="en-US" sz="2000" dirty="0">
                <a:solidFill>
                  <a:srgbClr val="000000"/>
                </a:solidFill>
                <a:latin typeface="Times New Roman"/>
                <a:ea typeface="MS PGothic"/>
              </a:rPr>
              <a:t>Tanish Singla 2210992438</a:t>
            </a:r>
          </a:p>
          <a:p>
            <a:pPr algn="ctr" defTabSz="914400">
              <a:lnSpc>
                <a:spcPct val="100000"/>
              </a:lnSpc>
              <a:spcBef>
                <a:spcPts val="400"/>
              </a:spcBef>
            </a:pPr>
            <a:r>
              <a:rPr lang="en-US" sz="2000" dirty="0">
                <a:solidFill>
                  <a:srgbClr val="000000"/>
                </a:solidFill>
                <a:latin typeface="Times New Roman"/>
                <a:ea typeface="MS PGothic"/>
              </a:rPr>
              <a:t>Shalesh Thakur 2210992283</a:t>
            </a:r>
          </a:p>
          <a:p>
            <a:pPr algn="ctr" defTabSz="914400">
              <a:lnSpc>
                <a:spcPct val="100000"/>
              </a:lnSpc>
              <a:spcBef>
                <a:spcPts val="400"/>
              </a:spcBef>
            </a:pPr>
            <a:r>
              <a:rPr lang="en-US" sz="2000" b="0" u="none" strike="noStrike" dirty="0">
                <a:solidFill>
                  <a:srgbClr val="000000"/>
                </a:solidFill>
                <a:effectLst/>
                <a:uFillTx/>
                <a:latin typeface="Times New Roman"/>
                <a:ea typeface="MS PGothic"/>
              </a:rPr>
              <a:t>Supervised By: </a:t>
            </a:r>
            <a:r>
              <a:rPr lang="en-US" sz="2000" dirty="0">
                <a:solidFill>
                  <a:srgbClr val="000000"/>
                </a:solidFill>
                <a:latin typeface="Times New Roman"/>
                <a:ea typeface="MS PGothic"/>
              </a:rPr>
              <a:t>Dr. Shikha Tuteja</a:t>
            </a:r>
          </a:p>
          <a:p>
            <a:pPr algn="ctr" defTabSz="914400">
              <a:lnSpc>
                <a:spcPct val="100000"/>
              </a:lnSpc>
              <a:spcBef>
                <a:spcPts val="400"/>
              </a:spcBef>
            </a:pPr>
            <a:endParaRPr lang="en-US" sz="2000" b="0" u="none" strike="noStrike" dirty="0">
              <a:solidFill>
                <a:srgbClr val="000000"/>
              </a:solidFill>
              <a:effectLst/>
              <a:uFillTx/>
              <a:latin typeface="Times New Roman"/>
              <a:ea typeface="MS PGothic"/>
            </a:endParaRPr>
          </a:p>
          <a:p>
            <a:pPr algn="ctr" defTabSz="914400">
              <a:lnSpc>
                <a:spcPct val="100000"/>
              </a:lnSpc>
              <a:spcBef>
                <a:spcPts val="400"/>
              </a:spcBef>
            </a:pPr>
            <a:endParaRPr lang="en-US" sz="20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Department of Computer Science and Engineering, </a:t>
            </a:r>
            <a:endParaRPr lang="en-US" sz="24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Chitkara University, Punjab</a:t>
            </a:r>
            <a:endParaRPr lang="en-US" sz="2400" b="0" u="none" strike="noStrike" dirty="0">
              <a:solidFill>
                <a:srgbClr val="000000"/>
              </a:solidFill>
              <a:effectLst/>
              <a:uFillTx/>
              <a:latin typeface="Arial"/>
            </a:endParaRPr>
          </a:p>
          <a:p>
            <a:pPr algn="ctr" defTabSz="914400">
              <a:lnSpc>
                <a:spcPct val="150000"/>
              </a:lnSpc>
              <a:spcBef>
                <a:spcPts val="400"/>
              </a:spcBef>
            </a:pPr>
            <a:endParaRPr lang="en-US" sz="2000" b="0" u="none" strike="noStrike" dirty="0">
              <a:solidFill>
                <a:srgbClr val="000000"/>
              </a:solidFill>
              <a:effectLst/>
              <a:uFillTx/>
              <a:latin typeface="Arial"/>
            </a:endParaRPr>
          </a:p>
          <a:p>
            <a:pPr defTabSz="914400">
              <a:lnSpc>
                <a:spcPct val="100000"/>
              </a:lnSpc>
              <a:spcBef>
                <a:spcPts val="641"/>
              </a:spcBef>
            </a:pPr>
            <a:endParaRPr lang="en-US" sz="20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 b="1" u="none" strike="noStrike" dirty="0">
                <a:solidFill>
                  <a:schemeClr val="dk1"/>
                </a:solidFill>
                <a:effectLst/>
                <a:uFillTx/>
                <a:latin typeface="Times New Roman"/>
                <a:ea typeface="DejaVu Sans"/>
              </a:rPr>
              <a:t>Introduction</a:t>
            </a:r>
            <a:endParaRPr lang="en-US" b="1" u="none" strike="noStrike" dirty="0">
              <a:solidFill>
                <a:srgbClr val="000000"/>
              </a:solidFill>
              <a:effectLst/>
              <a:uFillTx/>
              <a:latin typeface="Arial"/>
            </a:endParaRPr>
          </a:p>
        </p:txBody>
      </p:sp>
      <p:sp>
        <p:nvSpPr>
          <p:cNvPr id="227"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21D82352-9756-476F-A9CF-4775124B2ADF}" type="slidenum">
              <a:rPr lang="en-US" sz="1200" b="1" u="none" strike="noStrike">
                <a:solidFill>
                  <a:srgbClr val="000000"/>
                </a:solidFill>
                <a:effectLst/>
                <a:uFillTx/>
                <a:latin typeface="Calibri"/>
                <a:ea typeface="MS PGothic"/>
              </a:rPr>
              <a:t>2</a:t>
            </a:fld>
            <a:endParaRPr lang="en-US" sz="1200" b="0" u="none" strike="noStrike">
              <a:solidFill>
                <a:srgbClr val="000000"/>
              </a:solidFill>
              <a:effectLst/>
              <a:uFillTx/>
              <a:latin typeface="Arial"/>
            </a:endParaRPr>
          </a:p>
        </p:txBody>
      </p:sp>
      <p:sp>
        <p:nvSpPr>
          <p:cNvPr id="228" name="TextShape 2"/>
          <p:cNvSpPr/>
          <p:nvPr/>
        </p:nvSpPr>
        <p:spPr>
          <a:xfrm>
            <a:off x="164160" y="1109880"/>
            <a:ext cx="8838360" cy="5359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spcBef>
                <a:spcPts val="1191"/>
              </a:spcBef>
              <a:spcAft>
                <a:spcPts val="992"/>
              </a:spcAft>
            </a:pPr>
            <a:r>
              <a:rPr lang="en-US" sz="1600" b="1" u="none" strike="noStrike" dirty="0">
                <a:solidFill>
                  <a:srgbClr val="000000"/>
                </a:solidFill>
                <a:effectLst/>
                <a:uFillTx/>
                <a:latin typeface="Times New Roman"/>
                <a:ea typeface="DejaVu Sans"/>
              </a:rPr>
              <a:t>2.1 Background</a:t>
            </a:r>
            <a:endParaRPr lang="en-US" sz="1600" b="0" u="none" strike="noStrike" dirty="0">
              <a:solidFill>
                <a:srgbClr val="000000"/>
              </a:solidFill>
              <a:effectLst/>
              <a:uFillTx/>
              <a:latin typeface="Arial"/>
            </a:endParaRPr>
          </a:p>
          <a:p>
            <a:pPr marL="285750" indent="-285750">
              <a:buFont typeface="Arial" panose="020B0604020202020204" pitchFamily="34" charset="0"/>
              <a:buChar char="•"/>
            </a:pPr>
            <a:r>
              <a:rPr lang="en-US" sz="1600" dirty="0"/>
              <a:t>Lack of structured shipment allocation system</a:t>
            </a:r>
          </a:p>
          <a:p>
            <a:pPr marL="285750" indent="-285750">
              <a:buFont typeface="Arial" panose="020B0604020202020204" pitchFamily="34" charset="0"/>
              <a:buChar char="•"/>
            </a:pPr>
            <a:r>
              <a:rPr lang="en-US" sz="1600" u="none" strike="noStrike" dirty="0">
                <a:solidFill>
                  <a:srgbClr val="000000"/>
                </a:solidFill>
                <a:effectLst/>
                <a:uFillTx/>
                <a:latin typeface="+mj-lt"/>
                <a:ea typeface="DejaVu Sans"/>
              </a:rPr>
              <a:t>Students often struggle with unstructured study planning</a:t>
            </a:r>
          </a:p>
          <a:p>
            <a:pPr marL="285750" indent="-285750">
              <a:buFont typeface="Arial" panose="020B0604020202020204" pitchFamily="34" charset="0"/>
              <a:buChar char="•"/>
            </a:pPr>
            <a:r>
              <a:rPr lang="en-US" sz="1600" dirty="0">
                <a:solidFill>
                  <a:srgbClr val="000000"/>
                </a:solidFill>
                <a:latin typeface="+mj-lt"/>
                <a:ea typeface="DejaVu Sans"/>
              </a:rPr>
              <a:t>Difficulty in identifying which topics to prioritize</a:t>
            </a:r>
          </a:p>
          <a:p>
            <a:pPr marL="285750" indent="-285750">
              <a:buFont typeface="Arial" panose="020B0604020202020204" pitchFamily="34" charset="0"/>
              <a:buChar char="•"/>
            </a:pPr>
            <a:r>
              <a:rPr lang="en-US" sz="1600" dirty="0">
                <a:solidFill>
                  <a:srgbClr val="000000"/>
                </a:solidFill>
                <a:latin typeface="+mj-lt"/>
                <a:ea typeface="DejaVu Sans"/>
              </a:rPr>
              <a:t>No awareness of overload or burnout risk</a:t>
            </a:r>
            <a:endParaRPr lang="en-US" sz="1600" u="none" strike="noStrike" dirty="0">
              <a:solidFill>
                <a:srgbClr val="000000"/>
              </a:solidFill>
              <a:effectLst/>
              <a:uFillTx/>
              <a:latin typeface="+mj-lt"/>
              <a:ea typeface="DejaVu Sans"/>
            </a:endParaRPr>
          </a:p>
          <a:p>
            <a:endParaRPr lang="en-US" sz="1600" b="1" dirty="0">
              <a:solidFill>
                <a:srgbClr val="000000"/>
              </a:solidFill>
              <a:latin typeface="Times New Roman"/>
              <a:ea typeface="DejaVu Sans"/>
            </a:endParaRPr>
          </a:p>
          <a:p>
            <a:endParaRPr lang="en-US" sz="1600" b="1" u="none" strike="noStrike" dirty="0">
              <a:solidFill>
                <a:srgbClr val="000000"/>
              </a:solidFill>
              <a:effectLst/>
              <a:uFillTx/>
              <a:latin typeface="Times New Roman"/>
              <a:ea typeface="DejaVu Sans"/>
            </a:endParaRPr>
          </a:p>
          <a:p>
            <a:endParaRPr lang="en-US" sz="1600" b="1" u="none" strike="noStrike" dirty="0">
              <a:solidFill>
                <a:srgbClr val="000000"/>
              </a:solidFill>
              <a:effectLst/>
              <a:uFillTx/>
              <a:latin typeface="Times New Roman"/>
              <a:ea typeface="DejaVu Sans"/>
            </a:endParaRPr>
          </a:p>
          <a:p>
            <a:r>
              <a:rPr lang="en-US" sz="1600" b="1" u="none" strike="noStrike" dirty="0">
                <a:solidFill>
                  <a:srgbClr val="000000"/>
                </a:solidFill>
                <a:effectLst/>
                <a:uFillTx/>
                <a:latin typeface="Times New Roman"/>
                <a:ea typeface="DejaVu Sans"/>
              </a:rPr>
              <a:t>2.2 Problem Statement</a:t>
            </a:r>
            <a:endParaRPr lang="en-US" sz="1600" b="0" u="none" strike="noStrike" dirty="0">
              <a:solidFill>
                <a:srgbClr val="000000"/>
              </a:solidFill>
              <a:effectLst/>
              <a:uFillTx/>
              <a:latin typeface="Arial"/>
            </a:endParaRPr>
          </a:p>
          <a:p>
            <a:pPr marL="285750" indent="-285750">
              <a:buFont typeface="Arial" panose="020B0604020202020204" pitchFamily="34" charset="0"/>
              <a:buChar char="•"/>
            </a:pPr>
            <a:r>
              <a:rPr lang="en-US" sz="1600" dirty="0"/>
              <a:t>Develop an AI-powered smart study planning system</a:t>
            </a:r>
          </a:p>
          <a:p>
            <a:pPr marL="285750" indent="-285750">
              <a:buFont typeface="Arial" panose="020B0604020202020204" pitchFamily="34" charset="0"/>
              <a:buChar char="•"/>
            </a:pPr>
            <a:r>
              <a:rPr lang="en-US" sz="1600" dirty="0"/>
              <a:t>Automatically prioritize topics based on importance and dependencies</a:t>
            </a:r>
          </a:p>
          <a:p>
            <a:pPr marL="285750" indent="-285750">
              <a:buFont typeface="Arial" panose="020B0604020202020204" pitchFamily="34" charset="0"/>
              <a:buChar char="•"/>
            </a:pPr>
            <a:r>
              <a:rPr lang="en-US" sz="1600" dirty="0"/>
              <a:t>Generate optimized daily study schedule</a:t>
            </a:r>
          </a:p>
          <a:p>
            <a:pPr marL="285750" indent="-285750">
              <a:buFont typeface="Arial" panose="020B0604020202020204" pitchFamily="34" charset="0"/>
              <a:buChar char="•"/>
            </a:pPr>
            <a:r>
              <a:rPr lang="en-US" sz="1600" dirty="0"/>
              <a:t>Detect overload situations and suggest recovery strategies</a:t>
            </a:r>
          </a:p>
          <a:p>
            <a:pPr marL="285750" indent="-285750">
              <a:buFont typeface="Arial" panose="020B0604020202020204" pitchFamily="34" charset="0"/>
              <a:buChar char="•"/>
            </a:pPr>
            <a:r>
              <a:rPr lang="en-US" sz="1600" dirty="0"/>
              <a:t>Provide progress tracking and productivity insights</a:t>
            </a:r>
          </a:p>
          <a:p>
            <a:pPr marL="285750" indent="-285750">
              <a:buFont typeface="Arial" panose="020B0604020202020204" pitchFamily="34" charset="0"/>
              <a:buChar char="•"/>
            </a:pPr>
            <a:r>
              <a:rPr lang="en-US" sz="1600" dirty="0"/>
              <a:t>Enable social learning through leaderboard and collaboration</a:t>
            </a:r>
          </a:p>
          <a:p>
            <a:pPr>
              <a:spcBef>
                <a:spcPts val="1191"/>
              </a:spcBef>
              <a:spcAft>
                <a:spcPts val="992"/>
              </a:spcAft>
            </a:pPr>
            <a:endParaRPr lang="en-US" sz="1600" b="1"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0" y="246960"/>
            <a:ext cx="7680600" cy="585000"/>
          </a:xfrm>
          <a:prstGeom prst="rect">
            <a:avLst/>
          </a:prstGeom>
          <a:noFill/>
          <a:ln w="0">
            <a:noFill/>
          </a:ln>
        </p:spPr>
        <p:txBody>
          <a:bodyPr lIns="0" tIns="0" rIns="0" bIns="0" anchor="ctr">
            <a:noAutofit/>
          </a:bodyPr>
          <a:lstStyle/>
          <a:p>
            <a:pPr indent="0" defTabSz="914400">
              <a:lnSpc>
                <a:spcPct val="90000"/>
              </a:lnSpc>
              <a:buNone/>
            </a:pPr>
            <a:r>
              <a:rPr lang="en-US" sz="1800" b="1" u="none" strike="noStrike" dirty="0">
                <a:solidFill>
                  <a:schemeClr val="dk1"/>
                </a:solidFill>
                <a:effectLst/>
                <a:uFillTx/>
                <a:latin typeface="Arial"/>
                <a:ea typeface="DejaVu Sans"/>
              </a:rPr>
              <a:t> </a:t>
            </a:r>
            <a:r>
              <a:rPr lang="en-US" sz="18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Software and Hardware Requirement Specification</a:t>
            </a:r>
            <a:br>
              <a:rPr sz="1800" dirty="0"/>
            </a:br>
            <a:endParaRPr lang="en-US" sz="1800" b="0" u="none" strike="noStrike" dirty="0">
              <a:solidFill>
                <a:schemeClr val="dk1"/>
              </a:solidFill>
              <a:effectLst/>
              <a:uFillTx/>
              <a:latin typeface="Arial"/>
            </a:endParaRPr>
          </a:p>
        </p:txBody>
      </p:sp>
      <p:sp>
        <p:nvSpPr>
          <p:cNvPr id="230" name="PlaceHolder 2"/>
          <p:cNvSpPr>
            <a:spLocks noGrp="1"/>
          </p:cNvSpPr>
          <p:nvPr>
            <p:ph/>
          </p:nvPr>
        </p:nvSpPr>
        <p:spPr>
          <a:xfrm>
            <a:off x="236160" y="923400"/>
            <a:ext cx="8907840" cy="5687640"/>
          </a:xfrm>
          <a:prstGeom prst="rect">
            <a:avLst/>
          </a:prstGeom>
          <a:noFill/>
          <a:ln w="0">
            <a:noFill/>
          </a:ln>
        </p:spPr>
        <p:txBody>
          <a:bodyPr lIns="0" tIns="0" rIns="0" bIns="0" anchor="t">
            <a:noAutofit/>
          </a:bodyPr>
          <a:lstStyle/>
          <a:p>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3.1 Methodology :-</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The development of Smart Study Planner follows the Agile methodology Focus on iterative development, testing, and continuous improvement Application is built in modular sprints, including: </a:t>
            </a:r>
          </a:p>
          <a:p>
            <a:r>
              <a:rPr lang="en-IN" sz="16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 Authentication System  </a:t>
            </a:r>
          </a:p>
          <a:p>
            <a:pPr marL="342900" lvl="1" indent="-34290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Subject &amp; Topic Management </a:t>
            </a:r>
          </a:p>
          <a:p>
            <a:pPr marL="342900" lvl="1" indent="-34290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AI-based Scheduling Engine </a:t>
            </a:r>
          </a:p>
          <a:p>
            <a:pPr marL="342900" lvl="1" indent="-34290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Overload Detection &amp; Recovery System  </a:t>
            </a:r>
          </a:p>
          <a:p>
            <a:pPr marL="342900" lvl="1" indent="-34290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Social &amp; Leaderboard Features </a:t>
            </a:r>
          </a:p>
          <a:p>
            <a:pPr marL="34290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Continuous testing ensures: </a:t>
            </a:r>
          </a:p>
          <a:p>
            <a:pPr marL="342900" lvl="1" indent="-34290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Scalability </a:t>
            </a:r>
          </a:p>
          <a:p>
            <a:pPr marL="342900" lvl="1" indent="-34290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Reliability </a:t>
            </a:r>
          </a:p>
          <a:p>
            <a:pPr marL="342900" lvl="1" indent="-34290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Performance optimization </a:t>
            </a:r>
          </a:p>
          <a:p>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3.2 Programming / Working Environment</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Frontend:</a:t>
            </a:r>
            <a:r>
              <a:rPr lang="en-IN" sz="1600" dirty="0">
                <a:latin typeface="Times New Roman" panose="02020603050405020304" pitchFamily="18" charset="0"/>
                <a:cs typeface="Times New Roman" panose="02020603050405020304" pitchFamily="18" charset="0"/>
              </a:rPr>
              <a:t> React (Vite)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Backend:</a:t>
            </a:r>
            <a:r>
              <a:rPr lang="en-IN" sz="1600" dirty="0">
                <a:latin typeface="Times New Roman" panose="02020603050405020304" pitchFamily="18" charset="0"/>
                <a:cs typeface="Times New Roman" panose="02020603050405020304" pitchFamily="18" charset="0"/>
              </a:rPr>
              <a:t> Node.js with Express.js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Database:</a:t>
            </a:r>
            <a:r>
              <a:rPr lang="en-IN" sz="1600" dirty="0">
                <a:latin typeface="Times New Roman" panose="02020603050405020304" pitchFamily="18" charset="0"/>
                <a:cs typeface="Times New Roman" panose="02020603050405020304" pitchFamily="18" charset="0"/>
              </a:rPr>
              <a:t> MongoDB Atlas (Cloud Database)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Authentication:</a:t>
            </a:r>
            <a:r>
              <a:rPr lang="en-IN" sz="1600" dirty="0">
                <a:latin typeface="Times New Roman" panose="02020603050405020304" pitchFamily="18" charset="0"/>
                <a:cs typeface="Times New Roman" panose="02020603050405020304" pitchFamily="18" charset="0"/>
              </a:rPr>
              <a:t> JWT + Email OTP Verification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AI Integration:</a:t>
            </a:r>
            <a:r>
              <a:rPr lang="en-IN" sz="1600" dirty="0">
                <a:latin typeface="Times New Roman" panose="02020603050405020304" pitchFamily="18" charset="0"/>
                <a:cs typeface="Times New Roman" panose="02020603050405020304" pitchFamily="18" charset="0"/>
              </a:rPr>
              <a:t> Google Gemini API (for topic analysis &amp; prioritization)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Communication:</a:t>
            </a:r>
            <a:r>
              <a:rPr lang="en-IN" sz="1600" dirty="0">
                <a:latin typeface="Times New Roman" panose="02020603050405020304" pitchFamily="18" charset="0"/>
                <a:cs typeface="Times New Roman" panose="02020603050405020304" pitchFamily="18" charset="0"/>
              </a:rPr>
              <a:t> REST APIs (client-server interaction)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Architecture:</a:t>
            </a:r>
            <a:r>
              <a:rPr lang="en-IN" sz="1600" dirty="0">
                <a:latin typeface="Times New Roman" panose="02020603050405020304" pitchFamily="18" charset="0"/>
                <a:cs typeface="Times New Roman" panose="02020603050405020304" pitchFamily="18" charset="0"/>
              </a:rPr>
              <a:t> Client-Server Architecture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5377F-96D3-E4B4-D814-2A60A6A5857F}"/>
              </a:ext>
            </a:extLst>
          </p:cNvPr>
          <p:cNvSpPr>
            <a:spLocks noGrp="1"/>
          </p:cNvSpPr>
          <p:nvPr>
            <p:ph type="title"/>
          </p:nvPr>
        </p:nvSpPr>
        <p:spPr>
          <a:xfrm>
            <a:off x="173736" y="-82296"/>
            <a:ext cx="6583680" cy="913680"/>
          </a:xfrm>
        </p:spPr>
        <p:txBody>
          <a:bodyPr/>
          <a:lstStyle/>
          <a:p>
            <a:r>
              <a:rPr lang="en-US" sz="1800" b="1" dirty="0">
                <a:solidFill>
                  <a:schemeClr val="dk1"/>
                </a:solidFill>
                <a:latin typeface="Times New Roman" panose="02020603050405020304" pitchFamily="18" charset="0"/>
                <a:cs typeface="Times New Roman" panose="02020603050405020304" pitchFamily="18" charset="0"/>
              </a:rPr>
              <a:t>Software and Hardware Requirement Specification (1/2)</a:t>
            </a:r>
            <a:endParaRPr lang="en-IN" sz="1800" b="1" dirty="0"/>
          </a:p>
        </p:txBody>
      </p:sp>
      <p:sp>
        <p:nvSpPr>
          <p:cNvPr id="3" name="Text Placeholder 2">
            <a:extLst>
              <a:ext uri="{FF2B5EF4-FFF2-40B4-BE49-F238E27FC236}">
                <a16:creationId xmlns:a16="http://schemas.microsoft.com/office/drawing/2014/main" id="{4EF4116B-36AB-F13B-B26F-76C2133CC525}"/>
              </a:ext>
            </a:extLst>
          </p:cNvPr>
          <p:cNvSpPr>
            <a:spLocks noGrp="1"/>
          </p:cNvSpPr>
          <p:nvPr>
            <p:ph type="body"/>
          </p:nvPr>
        </p:nvSpPr>
        <p:spPr>
          <a:xfrm>
            <a:off x="256032" y="1074168"/>
            <a:ext cx="8650224" cy="5372352"/>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3.3 Requirements to Run the Application</a:t>
            </a:r>
            <a:endParaRPr lang="en-IN" sz="20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Hardware Requirements :-</a:t>
            </a:r>
          </a:p>
          <a:p>
            <a:r>
              <a:rPr lang="en-IN" sz="1600" b="1" dirty="0">
                <a:latin typeface="Times New Roman" panose="02020603050405020304" pitchFamily="18" charset="0"/>
                <a:cs typeface="Times New Roman" panose="02020603050405020304" pitchFamily="18" charset="0"/>
              </a:rPr>
              <a:t>Operating System:</a:t>
            </a:r>
            <a:r>
              <a:rPr lang="en-IN" sz="1600" dirty="0">
                <a:latin typeface="Times New Roman" panose="02020603050405020304" pitchFamily="18" charset="0"/>
                <a:cs typeface="Times New Roman" panose="02020603050405020304" pitchFamily="18" charset="0"/>
              </a:rPr>
              <a:t> Windows / Linux / macOS </a:t>
            </a:r>
          </a:p>
          <a:p>
            <a:r>
              <a:rPr lang="en-IN" sz="1600" b="1" dirty="0">
                <a:latin typeface="Times New Roman" panose="02020603050405020304" pitchFamily="18" charset="0"/>
                <a:cs typeface="Times New Roman" panose="02020603050405020304" pitchFamily="18" charset="0"/>
              </a:rPr>
              <a:t>RAM:</a:t>
            </a:r>
            <a:r>
              <a:rPr lang="en-IN" sz="1600" dirty="0">
                <a:latin typeface="Times New Roman" panose="02020603050405020304" pitchFamily="18" charset="0"/>
                <a:cs typeface="Times New Roman" panose="02020603050405020304" pitchFamily="18" charset="0"/>
              </a:rPr>
              <a:t> Minimum 8 GB </a:t>
            </a:r>
          </a:p>
          <a:p>
            <a:r>
              <a:rPr lang="en-IN" sz="1600" b="1" dirty="0">
                <a:latin typeface="Times New Roman" panose="02020603050405020304" pitchFamily="18" charset="0"/>
                <a:cs typeface="Times New Roman" panose="02020603050405020304" pitchFamily="18" charset="0"/>
              </a:rPr>
              <a:t>Processor:</a:t>
            </a:r>
            <a:r>
              <a:rPr lang="en-IN" sz="1600" dirty="0">
                <a:latin typeface="Times New Roman" panose="02020603050405020304" pitchFamily="18" charset="0"/>
                <a:cs typeface="Times New Roman" panose="02020603050405020304" pitchFamily="18" charset="0"/>
              </a:rPr>
              <a:t> Intel i5 or equivalent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Software Requirements :-</a:t>
            </a:r>
          </a:p>
          <a:p>
            <a:r>
              <a:rPr lang="en-IN" sz="1600" b="1" dirty="0">
                <a:latin typeface="Times New Roman" panose="02020603050405020304" pitchFamily="18" charset="0"/>
                <a:cs typeface="Times New Roman" panose="02020603050405020304" pitchFamily="18" charset="0"/>
              </a:rPr>
              <a:t>Node.js &amp; </a:t>
            </a:r>
            <a:r>
              <a:rPr lang="en-IN" sz="1600" b="1" dirty="0" err="1">
                <a:latin typeface="Times New Roman" panose="02020603050405020304" pitchFamily="18" charset="0"/>
                <a:cs typeface="Times New Roman" panose="02020603050405020304" pitchFamily="18" charset="0"/>
              </a:rPr>
              <a:t>npm</a:t>
            </a:r>
            <a:r>
              <a:rPr lang="en-IN" sz="1600" dirty="0">
                <a:latin typeface="Times New Roman" panose="02020603050405020304" pitchFamily="18" charset="0"/>
                <a:cs typeface="Times New Roman" panose="02020603050405020304" pitchFamily="18" charset="0"/>
              </a:rPr>
              <a:t> installed </a:t>
            </a:r>
          </a:p>
          <a:p>
            <a:r>
              <a:rPr lang="en-IN" sz="1600" b="1" dirty="0">
                <a:latin typeface="Times New Roman" panose="02020603050405020304" pitchFamily="18" charset="0"/>
                <a:cs typeface="Times New Roman" panose="02020603050405020304" pitchFamily="18" charset="0"/>
              </a:rPr>
              <a:t>MongoDB Atlas</a:t>
            </a:r>
            <a:r>
              <a:rPr lang="en-IN" sz="1600" dirty="0">
                <a:latin typeface="Times New Roman" panose="02020603050405020304" pitchFamily="18" charset="0"/>
                <a:cs typeface="Times New Roman" panose="02020603050405020304" pitchFamily="18" charset="0"/>
              </a:rPr>
              <a:t> configured </a:t>
            </a:r>
          </a:p>
          <a:p>
            <a:r>
              <a:rPr lang="en-IN" sz="1600" b="1" dirty="0">
                <a:latin typeface="Times New Roman" panose="02020603050405020304" pitchFamily="18" charset="0"/>
                <a:cs typeface="Times New Roman" panose="02020603050405020304" pitchFamily="18" charset="0"/>
              </a:rPr>
              <a:t>Gemini API Key</a:t>
            </a:r>
            <a:r>
              <a:rPr lang="en-IN" sz="1600" dirty="0">
                <a:latin typeface="Times New Roman" panose="02020603050405020304" pitchFamily="18" charset="0"/>
                <a:cs typeface="Times New Roman" panose="02020603050405020304" pitchFamily="18" charset="0"/>
              </a:rPr>
              <a:t> setup </a:t>
            </a:r>
          </a:p>
          <a:p>
            <a:r>
              <a:rPr lang="en-IN" sz="1600" b="1" dirty="0">
                <a:latin typeface="Times New Roman" panose="02020603050405020304" pitchFamily="18" charset="0"/>
                <a:cs typeface="Times New Roman" panose="02020603050405020304" pitchFamily="18" charset="0"/>
              </a:rPr>
              <a:t>Email Service (</a:t>
            </a:r>
            <a:r>
              <a:rPr lang="en-IN" sz="1600" b="1" dirty="0" err="1">
                <a:latin typeface="Times New Roman" panose="02020603050405020304" pitchFamily="18" charset="0"/>
                <a:cs typeface="Times New Roman" panose="02020603050405020304" pitchFamily="18" charset="0"/>
              </a:rPr>
              <a:t>Nodemailer</a:t>
            </a:r>
            <a:r>
              <a:rPr lang="en-IN" sz="1600" b="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configured for OTP </a:t>
            </a:r>
          </a:p>
          <a:p>
            <a:r>
              <a:rPr lang="en-IN" sz="1600" b="1" dirty="0">
                <a:latin typeface="Times New Roman" panose="02020603050405020304" pitchFamily="18" charset="0"/>
                <a:cs typeface="Times New Roman" panose="02020603050405020304" pitchFamily="18" charset="0"/>
              </a:rPr>
              <a:t>Browser:</a:t>
            </a:r>
            <a:r>
              <a:rPr lang="en-IN" sz="1600" dirty="0">
                <a:latin typeface="Times New Roman" panose="02020603050405020304" pitchFamily="18" charset="0"/>
                <a:cs typeface="Times New Roman" panose="02020603050405020304" pitchFamily="18" charset="0"/>
              </a:rPr>
              <a:t> Latest version of Chrome / Firefox / Safari</a:t>
            </a:r>
          </a:p>
          <a:p>
            <a:endParaRPr lang="en-IN" dirty="0"/>
          </a:p>
        </p:txBody>
      </p:sp>
    </p:spTree>
    <p:extLst>
      <p:ext uri="{BB962C8B-B14F-4D97-AF65-F5344CB8AC3E}">
        <p14:creationId xmlns:p14="http://schemas.microsoft.com/office/powerpoint/2010/main" val="1720500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292608" y="29857"/>
            <a:ext cx="6931440" cy="913680"/>
          </a:xfrm>
          <a:prstGeom prst="rect">
            <a:avLst/>
          </a:prstGeom>
          <a:noFill/>
          <a:ln w="0">
            <a:noFill/>
          </a:ln>
        </p:spPr>
        <p:txBody>
          <a:bodyPr lIns="0" tIns="0" rIns="0" bIns="0" anchor="ctr">
            <a:noAutofit/>
          </a:bodyPr>
          <a:lstStyle/>
          <a:p>
            <a:pPr indent="0" defTabSz="914400">
              <a:lnSpc>
                <a:spcPct val="90000"/>
              </a:lnSpc>
              <a:buNone/>
            </a:pPr>
            <a:r>
              <a:rPr lang="en-US" sz="1800" b="1" u="none" strike="noStrike" dirty="0">
                <a:solidFill>
                  <a:schemeClr val="dk1"/>
                </a:solidFill>
                <a:effectLst/>
                <a:uFillTx/>
                <a:latin typeface="Times New Roman" panose="02020603050405020304" pitchFamily="18" charset="0"/>
                <a:cs typeface="Times New Roman" panose="02020603050405020304" pitchFamily="18" charset="0"/>
              </a:rPr>
              <a:t>   </a:t>
            </a:r>
            <a:r>
              <a:rPr lang="en-US" sz="1800" b="1" dirty="0">
                <a:solidFill>
                  <a:schemeClr val="dk1"/>
                </a:solidFill>
                <a:latin typeface="Times New Roman" panose="02020603050405020304" pitchFamily="18" charset="0"/>
                <a:cs typeface="Times New Roman" panose="02020603050405020304" pitchFamily="18" charset="0"/>
              </a:rPr>
              <a:t>ER Diagram</a:t>
            </a:r>
            <a:endParaRPr lang="en-US" sz="1800" b="1" u="none" strike="noStrike" dirty="0">
              <a:solidFill>
                <a:schemeClr val="dk1"/>
              </a:solidFill>
              <a:effectLst/>
              <a:uFillTx/>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0196CDF-76D1-44E6-61A0-A8B4B04DF89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5986" y="913680"/>
            <a:ext cx="8186434" cy="54576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265525" y="0"/>
            <a:ext cx="5485680" cy="913680"/>
          </a:xfrm>
          <a:prstGeom prst="rect">
            <a:avLst/>
          </a:prstGeom>
          <a:noFill/>
          <a:ln w="0">
            <a:noFill/>
          </a:ln>
        </p:spPr>
        <p:txBody>
          <a:bodyPr lIns="0" tIns="0" rIns="0" bIns="0" anchor="ctr">
            <a:noAutofit/>
          </a:bodyPr>
          <a:lstStyle/>
          <a:p>
            <a:pPr indent="0" defTabSz="914400">
              <a:lnSpc>
                <a:spcPct val="90000"/>
              </a:lnSpc>
              <a:buNone/>
            </a:pPr>
            <a:r>
              <a:rPr lang="en-US" sz="1800" b="1" strike="noStrike" dirty="0">
                <a:solidFill>
                  <a:schemeClr val="dk1"/>
                </a:solidFill>
                <a:effectLst/>
                <a:uFillTx/>
                <a:latin typeface="Times New Roman"/>
                <a:ea typeface="Calibri"/>
              </a:rPr>
              <a:t>TECHNOLOGIES AND TOOLS</a:t>
            </a:r>
            <a:endParaRPr lang="en-US" sz="1800" b="0" strike="noStrike" dirty="0">
              <a:solidFill>
                <a:schemeClr val="dk1"/>
              </a:solidFill>
              <a:effectLst/>
              <a:uFillTx/>
              <a:latin typeface="Arial"/>
            </a:endParaRPr>
          </a:p>
        </p:txBody>
      </p:sp>
      <p:sp>
        <p:nvSpPr>
          <p:cNvPr id="240" name="TextBox 2"/>
          <p:cNvSpPr/>
          <p:nvPr/>
        </p:nvSpPr>
        <p:spPr>
          <a:xfrm>
            <a:off x="265525" y="1160353"/>
            <a:ext cx="8091720" cy="476908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1600" dirty="0">
                <a:latin typeface="Times New Roman" panose="02020603050405020304" pitchFamily="18" charset="0"/>
                <a:cs typeface="Times New Roman" panose="02020603050405020304" pitchFamily="18" charset="0"/>
              </a:rPr>
              <a:t>Smart Study Planner uses modern technologies to ensure scalability, performance, and intelligent functionality.</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React.js (with Vite):</a:t>
            </a:r>
            <a:r>
              <a:rPr lang="en-US" sz="1600" dirty="0"/>
              <a:t>Used to build a fast, responsive, and dynamic user interface. Enables smooth navigation between dashboard, subjects, and social features.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Node.js &amp; Express.js : </a:t>
            </a:r>
            <a:r>
              <a:rPr lang="en-US" sz="1600" dirty="0"/>
              <a:t>Provides a scalable server environment to handle APIs, business logic, and scheduling operations efficiently.</a:t>
            </a:r>
          </a:p>
          <a:p>
            <a:pPr marL="285750" indent="-285750">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MongoDB Atlas: </a:t>
            </a:r>
            <a:r>
              <a:rPr lang="en-US" sz="1600" dirty="0"/>
              <a:t>Cloud-based NoSQL database used to store user data, subjects, topics, tasks, and analytics securely.</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JWT &amp; Email OTP Verification: </a:t>
            </a:r>
            <a:r>
              <a:rPr lang="en-US" sz="1600" dirty="0"/>
              <a:t>Ensures secure user authentication, session management, and email validation for account safety.</a:t>
            </a:r>
          </a:p>
          <a:p>
            <a:pPr marL="285750" indent="-285750">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Google Gemini API: </a:t>
            </a:r>
            <a:r>
              <a:rPr lang="en-US" sz="1600" dirty="0">
                <a:latin typeface="Times New Roman" panose="02020603050405020304" pitchFamily="18" charset="0"/>
                <a:cs typeface="Times New Roman" panose="02020603050405020304" pitchFamily="18" charset="0"/>
              </a:rPr>
              <a:t>Used for intelligent topic analysis, prioritization, and dependency detection to enhance study planning.</a:t>
            </a:r>
            <a:endParaRPr lang="en-US" sz="1600" b="1"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defTabSz="914400">
              <a:lnSpc>
                <a:spcPct val="100000"/>
              </a:lnSpc>
            </a:pP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D518C-5405-EA4C-EA4E-81D0A21C4A1C}"/>
              </a:ext>
            </a:extLst>
          </p:cNvPr>
          <p:cNvSpPr>
            <a:spLocks noGrp="1"/>
          </p:cNvSpPr>
          <p:nvPr>
            <p:ph type="title"/>
          </p:nvPr>
        </p:nvSpPr>
        <p:spPr>
          <a:xfrm>
            <a:off x="322301" y="-121636"/>
            <a:ext cx="8229240" cy="1144800"/>
          </a:xfrm>
        </p:spPr>
        <p:txBody>
          <a:bodyPr/>
          <a:lstStyle/>
          <a:p>
            <a:r>
              <a:rPr lang="en-US" sz="1800" b="1" dirty="0">
                <a:latin typeface="Times New Roman" panose="02020603050405020304" pitchFamily="18" charset="0"/>
                <a:cs typeface="Times New Roman" panose="02020603050405020304" pitchFamily="18" charset="0"/>
              </a:rPr>
              <a:t>VISUAL REPRESENTATION</a:t>
            </a:r>
          </a:p>
        </p:txBody>
      </p:sp>
      <p:pic>
        <p:nvPicPr>
          <p:cNvPr id="5" name="Picture 4">
            <a:extLst>
              <a:ext uri="{FF2B5EF4-FFF2-40B4-BE49-F238E27FC236}">
                <a16:creationId xmlns:a16="http://schemas.microsoft.com/office/drawing/2014/main" id="{8EB82B4B-55FF-99D5-0496-0799F181F9A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6478" y="1446343"/>
            <a:ext cx="8740878" cy="4425069"/>
          </a:xfrm>
          <a:prstGeom prst="rect">
            <a:avLst/>
          </a:prstGeom>
        </p:spPr>
      </p:pic>
    </p:spTree>
    <p:extLst>
      <p:ext uri="{BB962C8B-B14F-4D97-AF65-F5344CB8AC3E}">
        <p14:creationId xmlns:p14="http://schemas.microsoft.com/office/powerpoint/2010/main" val="1540931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3E2E-7E4B-7C92-8FE3-EFAD93411EF6}"/>
              </a:ext>
            </a:extLst>
          </p:cNvPr>
          <p:cNvSpPr>
            <a:spLocks noGrp="1"/>
          </p:cNvSpPr>
          <p:nvPr>
            <p:ph type="title"/>
          </p:nvPr>
        </p:nvSpPr>
        <p:spPr>
          <a:xfrm>
            <a:off x="249248" y="0"/>
            <a:ext cx="5485680" cy="913680"/>
          </a:xfrm>
        </p:spPr>
        <p:txBody>
          <a:bodyPr/>
          <a:lstStyle/>
          <a:p>
            <a:r>
              <a:rPr lang="en-US" sz="1800" b="1" dirty="0">
                <a:latin typeface="Times New Roman" panose="02020603050405020304" pitchFamily="18" charset="0"/>
                <a:cs typeface="Times New Roman" panose="02020603050405020304" pitchFamily="18" charset="0"/>
              </a:rPr>
              <a:t>VISUAL REPRESENTATION</a:t>
            </a:r>
            <a:endParaRPr lang="en-US" sz="1800" dirty="0"/>
          </a:p>
        </p:txBody>
      </p:sp>
      <p:pic>
        <p:nvPicPr>
          <p:cNvPr id="6" name="Picture 5">
            <a:extLst>
              <a:ext uri="{FF2B5EF4-FFF2-40B4-BE49-F238E27FC236}">
                <a16:creationId xmlns:a16="http://schemas.microsoft.com/office/drawing/2014/main" id="{29A399F8-3D40-96DB-655B-CBA0BDDEA38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484" y="1526968"/>
            <a:ext cx="8839201" cy="4507071"/>
          </a:xfrm>
          <a:prstGeom prst="rect">
            <a:avLst/>
          </a:prstGeom>
        </p:spPr>
      </p:pic>
    </p:spTree>
    <p:extLst>
      <p:ext uri="{BB962C8B-B14F-4D97-AF65-F5344CB8AC3E}">
        <p14:creationId xmlns:p14="http://schemas.microsoft.com/office/powerpoint/2010/main" val="81527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AD9A-03DA-2DB7-16AD-9E55F6C2B369}"/>
              </a:ext>
            </a:extLst>
          </p:cNvPr>
          <p:cNvSpPr>
            <a:spLocks noGrp="1"/>
          </p:cNvSpPr>
          <p:nvPr>
            <p:ph type="title"/>
          </p:nvPr>
        </p:nvSpPr>
        <p:spPr>
          <a:xfrm>
            <a:off x="263898" y="0"/>
            <a:ext cx="5485680" cy="913680"/>
          </a:xfrm>
        </p:spPr>
        <p:txBody>
          <a:bodyPr/>
          <a:lstStyle/>
          <a:p>
            <a:r>
              <a:rPr lang="en-US" sz="1800" b="1" dirty="0">
                <a:latin typeface="Times New Roman" panose="02020603050405020304" pitchFamily="18" charset="0"/>
                <a:cs typeface="Times New Roman" panose="02020603050405020304" pitchFamily="18" charset="0"/>
              </a:rPr>
              <a:t>VISUAL REPRESENTATION</a:t>
            </a:r>
            <a:endParaRPr lang="en-US" sz="1800" dirty="0"/>
          </a:p>
        </p:txBody>
      </p:sp>
      <p:pic>
        <p:nvPicPr>
          <p:cNvPr id="8" name="Picture 7">
            <a:extLst>
              <a:ext uri="{FF2B5EF4-FFF2-40B4-BE49-F238E27FC236}">
                <a16:creationId xmlns:a16="http://schemas.microsoft.com/office/drawing/2014/main" id="{E7007499-3471-DE00-15A4-E5BFC78856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7652" y="1457955"/>
            <a:ext cx="8819535" cy="4418954"/>
          </a:xfrm>
          <a:prstGeom prst="rect">
            <a:avLst/>
          </a:prstGeom>
        </p:spPr>
      </p:pic>
    </p:spTree>
    <p:extLst>
      <p:ext uri="{BB962C8B-B14F-4D97-AF65-F5344CB8AC3E}">
        <p14:creationId xmlns:p14="http://schemas.microsoft.com/office/powerpoint/2010/main" val="194785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255786" y="27432"/>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Future Scope</a:t>
            </a:r>
            <a:endParaRPr lang="en-US" sz="20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
        <p:nvSpPr>
          <p:cNvPr id="5" name="TextBox 3"/>
          <p:cNvSpPr/>
          <p:nvPr/>
        </p:nvSpPr>
        <p:spPr>
          <a:xfrm>
            <a:off x="255786" y="913680"/>
            <a:ext cx="789840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457200" algn="l"/>
              </a:tabLst>
            </a:pPr>
            <a:endParaRPr lang="en-US" sz="1800" b="0" u="none" strike="noStrike" dirty="0">
              <a:solidFill>
                <a:srgbClr val="000000"/>
              </a:solidFill>
              <a:effectLst/>
              <a:uFillTx/>
              <a:latin typeface="Arial"/>
            </a:endParaRPr>
          </a:p>
        </p:txBody>
      </p:sp>
      <p:sp>
        <p:nvSpPr>
          <p:cNvPr id="6" name="Rectangle 5">
            <a:extLst>
              <a:ext uri="{FF2B5EF4-FFF2-40B4-BE49-F238E27FC236}">
                <a16:creationId xmlns:a16="http://schemas.microsoft.com/office/drawing/2014/main" id="{68FC2BB2-4275-5F22-9FD3-F1F93AE5B050}"/>
              </a:ext>
            </a:extLst>
          </p:cNvPr>
          <p:cNvSpPr>
            <a:spLocks noChangeArrowheads="1"/>
          </p:cNvSpPr>
          <p:nvPr/>
        </p:nvSpPr>
        <p:spPr bwMode="auto">
          <a:xfrm rot="10800000" flipV="1">
            <a:off x="320040" y="1296894"/>
            <a:ext cx="8494776"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AI Personalization</a:t>
            </a: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AI to adapt study plans based on user performance, learning speed, and behavior patterns.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Application Development</a:t>
            </a: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Android/iOS apps for better accessibility and on-the-go study management.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Learning Platforms</a:t>
            </a: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Connect with platforms like YouTube, Coursera, or NPTEL for direct learning resources within the app.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Revision System</a:t>
            </a: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spaced repetition and automatic revision scheduling before exams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Collaboration</a:t>
            </a: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group study features, shared schedules, and peer discussions.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Burnout Detection</a:t>
            </a: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advanced analytics to predict stress levels and suggest optimal breaks.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Gamification Features: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 badges, streaks, and rewards to increase user engagement.</a:t>
            </a:r>
          </a:p>
          <a:p>
            <a:pPr marL="0" marR="0" lvl="0" indent="0" algn="l" defTabSz="914400" rtl="0" eaLnBrk="0" fontAlgn="base" latinLnBrk="0" hangingPunct="0">
              <a:lnSpc>
                <a:spcPct val="100000"/>
              </a:lnSpc>
              <a:spcBef>
                <a:spcPct val="0"/>
              </a:spcBef>
              <a:spcAft>
                <a:spcPct val="0"/>
              </a:spcAft>
              <a:buClrTx/>
              <a:buSzTx/>
              <a:tabLst/>
            </a:pPr>
            <a:endParaRPr lang="en-US" altLang="en-US" sz="16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192024" y="6192"/>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Conclusion</a:t>
            </a:r>
            <a:endParaRPr lang="en-US" sz="20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
        <p:nvSpPr>
          <p:cNvPr id="244" name="TextBox 3"/>
          <p:cNvSpPr/>
          <p:nvPr/>
        </p:nvSpPr>
        <p:spPr>
          <a:xfrm>
            <a:off x="103500" y="913680"/>
            <a:ext cx="8937000" cy="501530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1600" dirty="0">
                <a:latin typeface="Times New Roman" panose="02020603050405020304" pitchFamily="18" charset="0"/>
                <a:cs typeface="Times New Roman" panose="02020603050405020304" pitchFamily="18" charset="0"/>
              </a:rPr>
              <a:t>The Smart Study Planner presents an intelligent and efficient solution for managing academic workloads. By leveraging AI-based prioritization and dependency analysis, the system helps students understand not only what to study but also the correct order in which topics should be covered. It optimizes time utilization through dynamic scheduling while adapting to different subjects, deadlines, and individual study capacities. The inclusion of features such as overload detection and recovery mode ensures that students can avoid excessive stress and maintain a balanced and sustainable study routine. Additionally, progress tracking, performance insights, and social learning elements enhance motivation, accountability, and overall engagement. The system also promotes consistency by guiding users with structured daily goals and actionable recommendations. Overall, the application transforms traditional study practices into a structured, data-driven, and highly personalized learning experience, ultimately helping students improve productivity, manage time effectively, and achieve better academic outcomes.</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Furthermore, the Smart Study Planner demonstrates how modern technology and artificial intelligence can be effectively utilized in the field of education to address real-world challenges faced by students. The system not only simplifies study planning but also empowers users to make informed decisions about their learning process. Its flexible and scalable design allows it to be extended with advanced features such as personalized recommendations, mobile accessibility, and deeper analytics in the future. By combining automation with user-centric design, the application creates a more efficient, adaptive, and engaging study environment, making it a valuable tool for students aiming to enhance both their academic performance and overall learning experience.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393192"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References</a:t>
            </a:r>
            <a:endParaRPr lang="en-US" sz="20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
        <p:nvSpPr>
          <p:cNvPr id="246" name="TextBox 3"/>
          <p:cNvSpPr/>
          <p:nvPr/>
        </p:nvSpPr>
        <p:spPr>
          <a:xfrm>
            <a:off x="236160" y="1155666"/>
            <a:ext cx="8907840" cy="574627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React (Official Documentation): </a:t>
            </a:r>
            <a:r>
              <a:rPr lang="en-IN" sz="1600" dirty="0">
                <a:latin typeface="Times New Roman" panose="02020603050405020304" pitchFamily="18" charset="0"/>
                <a:cs typeface="Times New Roman" panose="02020603050405020304" pitchFamily="18" charset="0"/>
              </a:rPr>
              <a:t>Meta. </a:t>
            </a:r>
            <a:r>
              <a:rPr lang="en-IN" sz="1600" i="1" dirty="0">
                <a:latin typeface="Times New Roman" panose="02020603050405020304" pitchFamily="18" charset="0"/>
                <a:cs typeface="Times New Roman" panose="02020603050405020304" pitchFamily="18" charset="0"/>
              </a:rPr>
              <a:t>React – A JavaScript Library for Building User Interfaces.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2"/>
              </a:rPr>
              <a:t>https://react.dev</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Vite (Official Documentation); </a:t>
            </a:r>
            <a:r>
              <a:rPr lang="en-IN" sz="1600" dirty="0">
                <a:latin typeface="Times New Roman" panose="02020603050405020304" pitchFamily="18" charset="0"/>
                <a:cs typeface="Times New Roman" panose="02020603050405020304" pitchFamily="18" charset="0"/>
              </a:rPr>
              <a:t>Evan You. </a:t>
            </a:r>
            <a:r>
              <a:rPr lang="en-IN" sz="1600" i="1" dirty="0">
                <a:latin typeface="Times New Roman" panose="02020603050405020304" pitchFamily="18" charset="0"/>
                <a:cs typeface="Times New Roman" panose="02020603050405020304" pitchFamily="18" charset="0"/>
              </a:rPr>
              <a:t>Vite – Next Generation Frontend Tooling.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3"/>
              </a:rPr>
              <a:t>https://vitejs.dev</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Node.js (Official Documentation): </a:t>
            </a:r>
            <a:r>
              <a:rPr lang="en-IN" sz="1600" dirty="0" err="1">
                <a:latin typeface="Times New Roman" panose="02020603050405020304" pitchFamily="18" charset="0"/>
                <a:cs typeface="Times New Roman" panose="02020603050405020304" pitchFamily="18" charset="0"/>
              </a:rPr>
              <a:t>OpenJS</a:t>
            </a:r>
            <a:r>
              <a:rPr lang="en-IN" sz="1600" dirty="0">
                <a:latin typeface="Times New Roman" panose="02020603050405020304" pitchFamily="18" charset="0"/>
                <a:cs typeface="Times New Roman" panose="02020603050405020304" pitchFamily="18" charset="0"/>
              </a:rPr>
              <a:t> Foundation. </a:t>
            </a:r>
            <a:r>
              <a:rPr lang="en-IN" sz="1600" i="1" dirty="0">
                <a:latin typeface="Times New Roman" panose="02020603050405020304" pitchFamily="18" charset="0"/>
                <a:cs typeface="Times New Roman" panose="02020603050405020304" pitchFamily="18" charset="0"/>
              </a:rPr>
              <a:t>Node.js – JavaScript Runtime Environment.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4"/>
              </a:rPr>
              <a:t>https://nodejs.org</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Express.js (Official Documentation): </a:t>
            </a:r>
            <a:r>
              <a:rPr lang="en-IN" sz="1600" dirty="0" err="1">
                <a:latin typeface="Times New Roman" panose="02020603050405020304" pitchFamily="18" charset="0"/>
                <a:cs typeface="Times New Roman" panose="02020603050405020304" pitchFamily="18" charset="0"/>
              </a:rPr>
              <a:t>OpenJS</a:t>
            </a:r>
            <a:r>
              <a:rPr lang="en-IN" sz="1600" dirty="0">
                <a:latin typeface="Times New Roman" panose="02020603050405020304" pitchFamily="18" charset="0"/>
                <a:cs typeface="Times New Roman" panose="02020603050405020304" pitchFamily="18" charset="0"/>
              </a:rPr>
              <a:t> Foundation. </a:t>
            </a:r>
            <a:r>
              <a:rPr lang="en-IN" sz="1600" i="1" dirty="0">
                <a:latin typeface="Times New Roman" panose="02020603050405020304" pitchFamily="18" charset="0"/>
                <a:cs typeface="Times New Roman" panose="02020603050405020304" pitchFamily="18" charset="0"/>
              </a:rPr>
              <a:t>Express – Fast, Unopinionated Web Framework for Node.js.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5"/>
              </a:rPr>
              <a:t>https://expressjs.com</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MongoDB Atlas (Official Documentation): </a:t>
            </a:r>
            <a:r>
              <a:rPr lang="en-IN" sz="1600" dirty="0">
                <a:latin typeface="Times New Roman" panose="02020603050405020304" pitchFamily="18" charset="0"/>
                <a:cs typeface="Times New Roman" panose="02020603050405020304" pitchFamily="18" charset="0"/>
              </a:rPr>
              <a:t>MongoDB Inc. </a:t>
            </a:r>
            <a:r>
              <a:rPr lang="en-IN" sz="1600" i="1" dirty="0">
                <a:latin typeface="Times New Roman" panose="02020603050405020304" pitchFamily="18" charset="0"/>
                <a:cs typeface="Times New Roman" panose="02020603050405020304" pitchFamily="18" charset="0"/>
              </a:rPr>
              <a:t>MongoDB Atlas – Cloud Database Service.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6"/>
              </a:rPr>
              <a:t>https://www.mongodb.com/atlas</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Mongoose (ODM Library): </a:t>
            </a:r>
            <a:r>
              <a:rPr lang="en-IN" sz="1600" dirty="0">
                <a:latin typeface="Times New Roman" panose="02020603050405020304" pitchFamily="18" charset="0"/>
                <a:cs typeface="Times New Roman" panose="02020603050405020304" pitchFamily="18" charset="0"/>
              </a:rPr>
              <a:t>Mongoose Team. </a:t>
            </a:r>
            <a:r>
              <a:rPr lang="en-IN" sz="1600" i="1" dirty="0">
                <a:latin typeface="Times New Roman" panose="02020603050405020304" pitchFamily="18" charset="0"/>
                <a:cs typeface="Times New Roman" panose="02020603050405020304" pitchFamily="18" charset="0"/>
              </a:rPr>
              <a:t>Mongoose – MongoDB Object </a:t>
            </a:r>
            <a:r>
              <a:rPr lang="en-IN" sz="1600" i="1" dirty="0" err="1">
                <a:latin typeface="Times New Roman" panose="02020603050405020304" pitchFamily="18" charset="0"/>
                <a:cs typeface="Times New Roman" panose="02020603050405020304" pitchFamily="18" charset="0"/>
              </a:rPr>
              <a:t>Modeling</a:t>
            </a:r>
            <a:r>
              <a:rPr lang="en-IN" sz="1600" i="1" dirty="0">
                <a:latin typeface="Times New Roman" panose="02020603050405020304" pitchFamily="18" charset="0"/>
                <a:cs typeface="Times New Roman" panose="02020603050405020304" pitchFamily="18" charset="0"/>
              </a:rPr>
              <a:t> for Node.js.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7"/>
              </a:rPr>
              <a:t>https://mongoosejs.com</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Google Gemini API: </a:t>
            </a:r>
            <a:r>
              <a:rPr lang="en-IN" sz="1600" dirty="0">
                <a:latin typeface="Times New Roman" panose="02020603050405020304" pitchFamily="18" charset="0"/>
                <a:cs typeface="Times New Roman" panose="02020603050405020304" pitchFamily="18" charset="0"/>
              </a:rPr>
              <a:t>Google. </a:t>
            </a:r>
            <a:r>
              <a:rPr lang="en-IN" sz="1600" i="1" dirty="0">
                <a:latin typeface="Times New Roman" panose="02020603050405020304" pitchFamily="18" charset="0"/>
                <a:cs typeface="Times New Roman" panose="02020603050405020304" pitchFamily="18" charset="0"/>
              </a:rPr>
              <a:t>Gemini – Generative AI API Documentation.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8"/>
              </a:rPr>
              <a:t>https://ai.google.dev</a:t>
            </a:r>
            <a:r>
              <a:rPr lang="en-IN" sz="1600" dirty="0">
                <a:latin typeface="Times New Roman" panose="02020603050405020304" pitchFamily="18" charset="0"/>
                <a:cs typeface="Times New Roman" panose="02020603050405020304" pitchFamily="18" charset="0"/>
              </a:rPr>
              <a:t> </a:t>
            </a:r>
          </a:p>
          <a:p>
            <a:pPr defTabSz="914400">
              <a:lnSpc>
                <a:spcPct val="100000"/>
              </a:lnSpc>
              <a:tabLst>
                <a:tab pos="457200" algn="l"/>
              </a:tabLst>
            </a:pPr>
            <a:endParaRPr lang="en-US" sz="155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Shape 1"/>
          <p:cNvSpPr/>
          <p:nvPr/>
        </p:nvSpPr>
        <p:spPr>
          <a:xfrm>
            <a:off x="1297440" y="2821680"/>
            <a:ext cx="6705360" cy="14104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5400" b="0" u="none" strike="noStrike">
                <a:solidFill>
                  <a:schemeClr val="dk1"/>
                </a:solidFill>
                <a:effectLst/>
                <a:uFillTx/>
                <a:latin typeface="Times New Roman"/>
                <a:ea typeface="DejaVu Sans"/>
              </a:rPr>
              <a:t>Thank You</a:t>
            </a:r>
            <a:endParaRPr lang="en-US" sz="5400" b="0" u="none" strike="noStrike">
              <a:solidFill>
                <a:srgbClr val="000000"/>
              </a:solidFill>
              <a:effectLst/>
              <a:uFillTx/>
              <a:latin typeface="Arial"/>
            </a:endParaRPr>
          </a:p>
        </p:txBody>
      </p:sp>
      <p:sp>
        <p:nvSpPr>
          <p:cNvPr id="248"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19D697E-C37C-41BD-90BD-A4D3EF4BFD80}" type="slidenum">
              <a:rPr lang="en-US" sz="1200" b="1" u="none" strike="noStrike">
                <a:solidFill>
                  <a:srgbClr val="000000"/>
                </a:solidFill>
                <a:effectLst/>
                <a:uFillTx/>
                <a:latin typeface="Calibri"/>
                <a:ea typeface="MS PGothic"/>
              </a:rPr>
              <a:t>13</a:t>
            </a:fld>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35494</TotalTime>
  <Words>1059</Words>
  <Application>Microsoft Office PowerPoint</Application>
  <PresentationFormat>On-screen Show (4:3)</PresentationFormat>
  <Paragraphs>118</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Symbol</vt:lpstr>
      <vt:lpstr>Times New Roman</vt:lpstr>
      <vt:lpstr>Wingdings</vt:lpstr>
      <vt:lpstr>Office Theme</vt:lpstr>
      <vt:lpstr>PowerPoint Presentation</vt:lpstr>
      <vt:lpstr>PowerPoint Presentation</vt:lpstr>
      <vt:lpstr> Software and Hardware Requirement Specification </vt:lpstr>
      <vt:lpstr>Software and Hardware Requirement Specification (1/2)</vt:lpstr>
      <vt:lpstr>   ER Diagram</vt:lpstr>
      <vt:lpstr>TECHNOLOGIES AND TOOLS</vt:lpstr>
      <vt:lpstr>VISUAL REPRESENTATION</vt:lpstr>
      <vt:lpstr>VISUAL REPRESENTATION</vt:lpstr>
      <vt:lpstr>VISUAL REPRESENTATION</vt:lpstr>
      <vt:lpstr>   Future Scope</vt:lpstr>
      <vt:lpstr>   Conclusion</vt:lpstr>
      <vt:lpstr>  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ABC</dc:creator>
  <dc:description/>
  <cp:lastModifiedBy>Purab Vats</cp:lastModifiedBy>
  <cp:revision>2330</cp:revision>
  <dcterms:created xsi:type="dcterms:W3CDTF">2010-04-09T07:36:15Z</dcterms:created>
  <dcterms:modified xsi:type="dcterms:W3CDTF">2026-05-13T08:56:43Z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0x010100096F1BF43DDE004485E7A868D137D60A</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13</vt:i4>
  </property>
</Properties>
</file>